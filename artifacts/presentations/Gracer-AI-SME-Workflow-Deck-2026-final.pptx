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38ee770d724aae" /><Relationship Type="http://schemas.openxmlformats.org/officeDocument/2006/relationships/extended-properties" Target="/docProps/app.xml" Id="R38b13ca1b06d43d5" /><Relationship Type="http://schemas.openxmlformats.org/officeDocument/2006/relationships/officeDocument" Target="/ppt/presentation.xml" Id="R64a99c8a2f174d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63526b12ca46a9"/>
  </p:sldMasterIdLst>
  <p:notesMasterIdLst>
    <p:notesMasterId xmlns:r="http://schemas.openxmlformats.org/officeDocument/2006/relationships" r:id="Rcd9f02b17ba34813"/>
  </p:notesMasterIdLst>
  <p:sldIdLst>
    <p:sldId xmlns:r="http://schemas.openxmlformats.org/officeDocument/2006/relationships" id="256" r:id="R30e11fa2231841d4"/>
    <p:sldId xmlns:r="http://schemas.openxmlformats.org/officeDocument/2006/relationships" id="257" r:id="Rda46203455924cd5"/>
    <p:sldId xmlns:r="http://schemas.openxmlformats.org/officeDocument/2006/relationships" id="258" r:id="Ra7de2dc50b7f4326"/>
    <p:sldId xmlns:r="http://schemas.openxmlformats.org/officeDocument/2006/relationships" id="259" r:id="R02f6cd22c2744c85"/>
    <p:sldId xmlns:r="http://schemas.openxmlformats.org/officeDocument/2006/relationships" id="260" r:id="R302daa690e344f18"/>
    <p:sldId xmlns:r="http://schemas.openxmlformats.org/officeDocument/2006/relationships" id="261" r:id="Rba981e029fe7487f"/>
    <p:sldId xmlns:r="http://schemas.openxmlformats.org/officeDocument/2006/relationships" id="262" r:id="Rdc070f1cf0b7490e"/>
    <p:sldId xmlns:r="http://schemas.openxmlformats.org/officeDocument/2006/relationships" id="263" r:id="Rfc477d64855a4999"/>
    <p:sldId xmlns:r="http://schemas.openxmlformats.org/officeDocument/2006/relationships" id="264" r:id="Rb0bcfab15b2d40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74b192decf4230" /><Relationship Type="http://schemas.openxmlformats.org/officeDocument/2006/relationships/slideMaster" Target="/ppt/slideMasters/slideMaster1.xml" Id="R7563526b12ca46a9" /><Relationship Type="http://schemas.openxmlformats.org/officeDocument/2006/relationships/notesMaster" Target="/ppt/notesMasters/notesMaster1.xml" Id="Rcd9f02b17ba34813" /><Relationship Type="http://schemas.openxmlformats.org/officeDocument/2006/relationships/presProps" Target="/ppt/presProps.xml" Id="R85d2897f5e5a4b95" /><Relationship Type="http://schemas.openxmlformats.org/officeDocument/2006/relationships/tableStyles" Target="/ppt/tableStyles.xml" Id="R67d65b898d1747c3" /><Relationship Type="http://schemas.openxmlformats.org/officeDocument/2006/relationships/slide" Target="/ppt/slides/slide1.xml" Id="R30e11fa2231841d4" /><Relationship Type="http://schemas.openxmlformats.org/officeDocument/2006/relationships/slide" Target="/ppt/slides/slide2.xml" Id="Rda46203455924cd5" /><Relationship Type="http://schemas.openxmlformats.org/officeDocument/2006/relationships/slide" Target="/ppt/slides/slide3.xml" Id="Ra7de2dc50b7f4326" /><Relationship Type="http://schemas.openxmlformats.org/officeDocument/2006/relationships/slide" Target="/ppt/slides/slide4.xml" Id="R02f6cd22c2744c85" /><Relationship Type="http://schemas.openxmlformats.org/officeDocument/2006/relationships/slide" Target="/ppt/slides/slide5.xml" Id="R302daa690e344f18" /><Relationship Type="http://schemas.openxmlformats.org/officeDocument/2006/relationships/slide" Target="/ppt/slides/slide6.xml" Id="Rba981e029fe7487f" /><Relationship Type="http://schemas.openxmlformats.org/officeDocument/2006/relationships/slide" Target="/ppt/slides/slide7.xml" Id="Rdc070f1cf0b7490e" /><Relationship Type="http://schemas.openxmlformats.org/officeDocument/2006/relationships/slide" Target="/ppt/slides/slide8.xml" Id="Rfc477d64855a4999" /><Relationship Type="http://schemas.openxmlformats.org/officeDocument/2006/relationships/slide" Target="/ppt/slides/slide9.xml" Id="Rb0bcfab15b2d40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7ff02de13a4e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239f23195840c0" /><Relationship Type="http://schemas.openxmlformats.org/officeDocument/2006/relationships/notesMaster" Target="/ppt/notesMasters/notesMaster1.xml" Id="R282dd888d6d447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033b0947a54564" /><Relationship Type="http://schemas.openxmlformats.org/officeDocument/2006/relationships/notesMaster" Target="/ppt/notesMasters/notesMaster1.xml" Id="R81daaf0b96a64c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844c67cd044e0b" /><Relationship Type="http://schemas.openxmlformats.org/officeDocument/2006/relationships/notesMaster" Target="/ppt/notesMasters/notesMaster1.xml" Id="R0e7bc5026e6940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e5422e4d9946e4" /><Relationship Type="http://schemas.openxmlformats.org/officeDocument/2006/relationships/notesMaster" Target="/ppt/notesMasters/notesMaster1.xml" Id="R34ae4e4f8c0e4a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1760bff85644a2" /><Relationship Type="http://schemas.openxmlformats.org/officeDocument/2006/relationships/notesMaster" Target="/ppt/notesMasters/notesMaster1.xml" Id="Rcc0f5294461146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608221755a4924" /><Relationship Type="http://schemas.openxmlformats.org/officeDocument/2006/relationships/notesMaster" Target="/ppt/notesMasters/notesMaster1.xml" Id="Re2260456215b48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5fc049f0854deb" /><Relationship Type="http://schemas.openxmlformats.org/officeDocument/2006/relationships/notesMaster" Target="/ppt/notesMasters/notesMaster1.xml" Id="R41f6e91b49b144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1d82174a1f4c95" /><Relationship Type="http://schemas.openxmlformats.org/officeDocument/2006/relationships/notesMaster" Target="/ppt/notesMasters/notesMaster1.xml" Id="R500a2810f8404d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b5f5dc534b4144" /><Relationship Type="http://schemas.openxmlformats.org/officeDocument/2006/relationships/notesMaster" Target="/ppt/notesMasters/notesMaster1.xml" Id="R47f19af474524b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เปิดด้วยประโยค: หลายบริษัทไม่ได้ขาดคนหรือข้อมูล แต่ข้อมูลกระจายอยู่ในหลายไฟล์ งานขอราคาหนึ่งรายการจึงอาจใช้เวลาเกือบทั้งวัน</a:t>
            </a:r>
          </a:p>
          <a:p xmlns:a="http://schemas.openxmlformats.org/drawingml/2006/main">
            <a:r>
              <a:t>แหล่งข้อมูล: PROJECT_CONTEXT.md และ DEMO_SCRIPT.md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 Before workflow: ฝ่ายขายต้องเปิด catalog, ราคา, ส่วนลด, นโยบายจัดส่ง และข้อมูลสต็อก จากนั้นจึงพิมพ์ใบเสนอราคาใหม่</a:t>
            </a:r>
          </a:p>
          <a:p xmlns:a="http://schemas.openxmlformats.org/drawingml/2006/main">
            <a:r>
              <a:t>ตัวเลขหนึ่งวันเป็นผลลัพธ์ตัวอย่างของสถานการณ์สาธิต ไม่ใช่ค่าเฉลี่ยของทุกบริษัท</a:t>
            </a:r>
          </a:p>
          <a:p xmlns:a="http://schemas.openxmlformats.org/drawingml/2006/main">
            <a:r>
              <a:t>แหล่งข้อมูล: DEMO_SCRIPT.md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จุดสำคัญของหน้านี้คือระบบไม่ได้หยุดที่การตอบคำถาม ระบบนำข้อมูลไปทำ workflow ต่อให้ครบก่อนส่งให้พนักงานตรวจ</a:t>
            </a:r>
          </a:p>
          <a:p xmlns:a="http://schemas.openxmlformats.org/drawingml/2006/main">
            <a:r>
              <a:t>แหล่งข้อมูล: PROJECT_CONTEXT.md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ส่งคำขอตัวอย่างในหน้าเดโม แล้วชี้ให้ผู้ชมเห็นว่าสินค้า จำนวน ปลายทาง และกำหนดเวลาถูกแยกออกมาอย่างชัดเจน</a:t>
            </a:r>
          </a:p>
          <a:p xmlns:a="http://schemas.openxmlformats.org/drawingml/2006/main">
            <a:r>
              <a:t>แหล่งข้อมูล: DEMO_SCRIPT.md และ src/data/demoData.ts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อธิบายว่าระบบทั้งค้นข้อมูลและใช้กฎธุรกิจ ยอดสุทธิ 920,467.50 บาทคำนวณจากราคา 18,500 บาท จำนวน 50 ตัว หักส่วนลด 7% แล้วบวก VAT 7%</a:t>
            </a:r>
          </a:p>
          <a:p xmlns:a="http://schemas.openxmlformats.org/drawingml/2006/main">
            <a:r>
              <a:t>แหล่งข้อมูล: DEMO_SCRIPT.md และ src/data/demoData.ts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หยุดสั้น ๆ เมื่อใบเสนอราคาปรากฏ แล้วชี้ว่าระบบยังไม่ได้ส่งเอกสารเอง พนักงานตรวจยอด แก้ข้อความ และกดอนุมัติก่อนทุกครั้ง</a:t>
            </a:r>
          </a:p>
          <a:p xmlns:a="http://schemas.openxmlformats.org/drawingml/2006/main">
            <a:r>
              <a:t>แหล่งข้อมูล: DEMO_SCRIPT.md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ย้ำว่านี่เป็นผลลัพธ์ตัวอย่างของเดโม สิ่งที่ทำกับลูกค้าจริงคือวัดเวลาเดิม ปริมาณงาน และคุณภาพก่อนเริ่ม Pilot แล้วเปรียบเทียบหลังทดลอง</a:t>
            </a:r>
          </a:p>
          <a:p xmlns:a="http://schemas.openxmlformats.org/drawingml/2006/main">
            <a:r>
              <a:t>แหล่งข้อมูล: DEMO_SCRIPT.md และ SALES_PROPOSAL.md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 privacy ในภาษาธุรกิจ หลีกเลี่ยงรายละเอียดโครงสร้างพื้นฐานในช่วงเดโมหลัก และไม่รับรองว่าไม่มีความเสี่ยงเลย</a:t>
            </a:r>
          </a:p>
          <a:p xmlns:a="http://schemas.openxmlformats.org/drawingml/2006/main">
            <a:r>
              <a:t>แหล่งข้อมูล: PROJECT_CONTEXT.md และ SALES_PROPOSAL.md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ปิดด้วยคำถามเรื่องงานที่เกิดซ้ำ เสนอ Workflow Assessment 30 นาที แล้วอธิบายว่า Pilot ราคา 49,000 บาทครอบคลุมหนึ่ง workflow ระยะเวลา 2–3 สัปดาห์</a:t>
            </a:r>
          </a:p>
          <a:p xmlns:a="http://schemas.openxmlformats.org/drawingml/2006/main">
            <a:r>
              <a:t>แหล่งข้อมูล: EXECUTION_PLAN.md, DEMO_SCRIPT.md และ SALES_PROPOSAL.md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887dae53d94b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82ea3d22e84f39" /><Relationship Type="http://schemas.openxmlformats.org/officeDocument/2006/relationships/slideLayout" Target="/ppt/slideLayouts/slideLayout1.xml" Id="Ra704bb359be14f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04bb359be14f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f9a676abc43a2" /><Relationship Type="http://schemas.openxmlformats.org/officeDocument/2006/relationships/image" Target="/ppt/media/image.png" Id="Rd788f7968b7e4d2a" /><Relationship Type="http://schemas.openxmlformats.org/officeDocument/2006/relationships/image" Target="/ppt/media/image2.png" Id="R22b9a50d5ce740d1" /><Relationship Type="http://schemas.openxmlformats.org/officeDocument/2006/relationships/notesSlide" Target="/ppt/notesSlides/notesSlide1.xml" Id="Rbb87896d1dbd42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c541df49d4146" /><Relationship Type="http://schemas.openxmlformats.org/officeDocument/2006/relationships/image" Target="/ppt/media/image3.png" Id="Rcf8985af065549f2" /><Relationship Type="http://schemas.openxmlformats.org/officeDocument/2006/relationships/notesSlide" Target="/ppt/notesSlides/notesSlide2.xml" Id="Rf6652549d61c40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292f991344c3d" /><Relationship Type="http://schemas.openxmlformats.org/officeDocument/2006/relationships/image" Target="/ppt/media/image4.png" Id="R0749f5532cd74be1" /><Relationship Type="http://schemas.openxmlformats.org/officeDocument/2006/relationships/image" Target="/ppt/media/image5.png" Id="R38f062d464bb413e" /><Relationship Type="http://schemas.openxmlformats.org/officeDocument/2006/relationships/notesSlide" Target="/ppt/notesSlides/notesSlide3.xml" Id="R91f319aa65f247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2411dce6842c4" /><Relationship Type="http://schemas.openxmlformats.org/officeDocument/2006/relationships/image" Target="/ppt/media/image6.png" Id="Rebcfbc8ea87241e4" /><Relationship Type="http://schemas.openxmlformats.org/officeDocument/2006/relationships/notesSlide" Target="/ppt/notesSlides/notesSlide4.xml" Id="R89a75896a9db46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cdba53fcb4d5a" /><Relationship Type="http://schemas.openxmlformats.org/officeDocument/2006/relationships/image" Target="/ppt/media/image7.png" Id="Rea5b5884f5984209" /><Relationship Type="http://schemas.openxmlformats.org/officeDocument/2006/relationships/notesSlide" Target="/ppt/notesSlides/notesSlide5.xml" Id="R7a444409632943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3ce5d65114493" /><Relationship Type="http://schemas.openxmlformats.org/officeDocument/2006/relationships/image" Target="/ppt/media/image8.png" Id="Raba9215802884059" /><Relationship Type="http://schemas.openxmlformats.org/officeDocument/2006/relationships/notesSlide" Target="/ppt/notesSlides/notesSlide6.xml" Id="R0be0bf2eecdf41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5910669324fd8" /><Relationship Type="http://schemas.openxmlformats.org/officeDocument/2006/relationships/image" Target="/ppt/media/image9.png" Id="R3a59236a83b049c1" /><Relationship Type="http://schemas.openxmlformats.org/officeDocument/2006/relationships/image" Target="/ppt/media/image10.png" Id="R0eabf4da39414658" /><Relationship Type="http://schemas.openxmlformats.org/officeDocument/2006/relationships/notesSlide" Target="/ppt/notesSlides/notesSlide7.xml" Id="Rb060c4f0b77540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e8a4013654cc3" /><Relationship Type="http://schemas.openxmlformats.org/officeDocument/2006/relationships/image" Target="/ppt/media/image11.png" Id="R6e310fed8feb40cc" /><Relationship Type="http://schemas.openxmlformats.org/officeDocument/2006/relationships/image" Target="/ppt/media/image12.png" Id="Rcb626de2517a4332" /><Relationship Type="http://schemas.openxmlformats.org/officeDocument/2006/relationships/notesSlide" Target="/ppt/notesSlides/notesSlide8.xml" Id="R91184eb8cfe940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bc2614b074f66" /><Relationship Type="http://schemas.openxmlformats.org/officeDocument/2006/relationships/image" Target="/ppt/media/image13.png" Id="R2ca77fc32a84458f" /><Relationship Type="http://schemas.openxmlformats.org/officeDocument/2006/relationships/notesSlide" Target="/ppt/notesSlides/notesSlide9.xml" Id="R6724cc2914ed4c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88f7968b7e4d2a"/>
          <a:srcRect xmlns:a="http://schemas.openxmlformats.org/drawingml/2006/main" l="20833" t="0" r="208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67887-06B7-488D-B7EB-B5C12281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9a50d5ce740d1"/>
          <a:stretch xmlns:a="http://schemas.openxmlformats.org/drawingml/2006/main"/>
        </p:blipFill>
        <p:spPr>
          <a:xfrm xmlns:a="http://schemas.openxmlformats.org/drawingml/2006/main">
            <a:off x="685800" y="514350"/>
            <a:ext cx="1619250" cy="3238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BC625-9193-43B4-B97A-47AC8853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715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7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47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ที่ช่วยให้งานธุรกิจ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7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47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เสร็จเร็วขึ้น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D490D-C923-4E38-A114-51D93025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66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ตัวอย่างการจัดทำใบเสนอราคา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จากข้อมูลและกฎของบริษัท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09076-8429-433E-9F05-018E7E54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3762375" cy="5334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BC170-303D-4A6F-8143-953ADC87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SME CONNECT RAYONG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AB32B-DD1C-4D69-AC96-1A3DD382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14 กันยายน 2026</a:t>
            </a:r>
          </a:p>
        </p:txBody>
      </p:sp>
    </p:spTree>
    <p:extLst>
      <p:ext uri="{BB962C8B-B14F-4D97-AF65-F5344CB8AC3E}">
        <p14:creationId xmlns:p14="http://schemas.microsoft.com/office/powerpoint/2010/main" val="14295993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985af065549f2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BB649-29C4-40C9-838C-B2A7F5B9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งานขอราคาหนึ่งรายการ อาจกินเวลาเกือบทั้งวัน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B96E1-8C0E-4781-89EE-7F55374F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พนักงานต้องค้นข้อมูล ตรวจเงื่อนไข และจัดทำเอกสารใหม่ด้วยมือ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14EB7-A54C-4D33-BD0C-2AC1CCBA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1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ขอราคา Pump รุ่น XP-200 จำนวน 50 ตัว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ส่งระยอง ขอภายในวันนี้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E48C0-01E8-4182-8822-90818A3F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762500" cy="1123950"/>
          </a:xfrm>
          <a:prstGeom xmlns:a="http://schemas.openxmlformats.org/drawingml/2006/main" prst="roundRect">
            <a:avLst>
              <a:gd name="adj" fmla="val 20339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5CB9F-145D-445A-9B4C-06E44DBC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31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4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 วัน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46C3E-FC33-4B68-B0A8-4BAACA1D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576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D5D1D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D5D1D8"/>
                </a:solidFill>
                <a:latin typeface="Noto Sans Thai"/>
                <a:ea typeface="Noto Sans Thai"/>
                <a:cs typeface="Noto Sans Thai"/>
              </a:rPr>
              <a:t>เวลาที่อาจใช้ต่อหนึ่งรายการ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DB720-0B8B-4FBC-B864-7E85B7C9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5C1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2671F-4759-41C8-9944-042C1815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8C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F00BA0-56EC-45D1-B647-C6A9CF98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099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7DAE7-DD97-40EB-8103-73BF03FE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33800"/>
            <a:ext cx="102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Catalog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4FFDF-A641-460D-A464-879BF261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86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8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E61BD-B647-4715-86D0-19700B58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099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167CA1-AAEB-4E4F-9E7F-8B4DC63B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733800"/>
            <a:ext cx="102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Price list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FCA05-26A2-45A3-BB15-0CAEF6A0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86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8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EBD198-F606-4FE9-BC24-A24EC72A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099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C75B50-691C-44D7-9521-5D700834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33800"/>
            <a:ext cx="102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ส่วนลด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8EDBCA-A8F4-4D82-8850-8D6BA922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086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8C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E98A20-28BC-48D5-9C85-C2535DD8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099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6E1D8F-ED31-4867-BA48-6116E29C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733800"/>
            <a:ext cx="102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Stock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40BF7-4C8B-438D-BC57-9EA1FD1F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086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5172"/>
          </a:solidFill>
          <a:ln xmlns:a="http://schemas.openxmlformats.org/drawingml/2006/main" w="9525">
            <a:solidFill>
              <a:srgbClr val="E9517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3A47A7-8D16-43F5-AE56-51FFEC82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099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362B8A-B580-4C2F-BF1A-C432E76B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33800"/>
            <a:ext cx="102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ใบเสนอราคา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0DD2F7-D1F7-476D-A7CB-93579DEB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rPr>
              <a:t>เวลาหายไปกับการเปิดไฟล์และคัดลอกข้อมูล มากกว่าการดูแลลูกค้า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B1F6BE-3E6B-4CEE-A27E-F1AAD44E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417860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9f5532cd74be1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69F31-51E2-4B06-9508-304864B9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Workflow สำหรับงานเสนอราคา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26014-ECE9-4784-A5FC-CA935893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ระบบนำคำขอไปทำงานต่อจนได้เอกสารฉบับร่างที่พร้อมตรวจ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062d464bb413e"/>
          <a:srcRect xmlns:a="http://schemas.openxmlformats.org/drawingml/2006/main" l="5726" t="0" r="57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885950"/>
            <a:ext cx="4933950" cy="3714750"/>
          </a:xfrm>
          <a:prstGeom xmlns:a="http://schemas.openxmlformats.org/drawingml/2006/main" prst="roundRect">
            <a:avLst>
              <a:gd name="adj" fmla="val 717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E0A26-730B-4CA8-8179-FBB1FE59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6BAA5-0C55-4747-8102-C0D36F48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76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เข้าใจคำขอ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A32B3-3511-49EB-9D27-FC0AE7A8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098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แยกสินค้า จำนวน ปลายทาง และกำหนดเวลา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30B1B-4A04-4FC6-8BF8-7BF696FD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74C6F-0FD7-4A31-A78D-44773300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F66AC-8207-48F6-8AFF-D58DEF95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28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ค้นข้อมูลภายใน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5468E-B83C-4DFE-AAF4-F7BBD09A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623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ใช้เฉพาะเอกสารที่บริษัทอนุญาต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A3070-EFAB-44C9-9496-02E89A05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7C2F1-8955-4DA0-B6DC-B8C6CC14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613A2-C798-4CED-BC2F-270F9F2F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81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ใช้กฎธุรกิจ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9670B-9E4A-402A-B79A-7F7DF665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148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ตรวจราคา ส่วนลด สต็อก และการจัดส่ง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BEBB52-954B-425E-A23B-7EAA7502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048925-F57D-4CCA-8210-4B44C333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34FDC6-E77B-4A7A-999B-ADA7ED76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33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สร้างฉบับร่าง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BE289A-5C98-44E2-B52F-837754A5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673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เตรียมใบเสนอราคาและข้อความตอบลูกค้า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8E22BB-E829-4B09-B7B1-EBA00ACA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987325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818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8D0EAC-F322-4E57-AD53-19EA81D7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4325"/>
            <a:ext cx="148590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fbc8ea87241e4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17E78-A45B-498C-A9E4-284E2577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7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7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AI เข้าใจคำขอของลูกค้า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78C0B-8484-401C-B276-39D33478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9C5C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C9C5CD"/>
                </a:solidFill>
                <a:latin typeface="Noto Sans Thai"/>
                <a:ea typeface="Noto Sans Thai"/>
                <a:cs typeface="Noto Sans Thai"/>
              </a:rPr>
              <a:t>ข้อความธรรมดากลายเป็นข้อมูลที่นำไปทำงานต่อได้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978D8-19CC-4318-AF84-FD86418F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1009650"/>
          </a:xfrm>
          <a:prstGeom xmlns:a="http://schemas.openxmlformats.org/drawingml/2006/main" prst="roundRect">
            <a:avLst>
              <a:gd name="adj" fmla="val 22642"/>
            </a:avLst>
          </a:prstGeom>
          <a:solidFill xmlns:a="http://schemas.openxmlformats.org/drawingml/2006/main">
            <a:srgbClr val="2C2B30"/>
          </a:solidFill>
          <a:ln xmlns:a="http://schemas.openxmlformats.org/drawingml/2006/main" w="9525">
            <a:solidFill>
              <a:srgbClr val="48464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A7399-2C2C-4892-B35C-4F87879C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10210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“ขอราคา Pump รุ่น XP-200 จำนวน 50 ตัว ส่งระยอง ขอภายในวันนี้”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A35F7-6A60-4CEC-80E8-8D054C69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AA5A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AAA5AF"/>
                </a:solidFill>
                <a:latin typeface="Noto Sans Thai"/>
                <a:ea typeface="Noto Sans Thai"/>
                <a:cs typeface="Noto Sans Thai"/>
              </a:rPr>
              <a:t>สินค้า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575F7-419B-4EEE-9A22-FE6EB119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21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F89A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FF89A2"/>
                </a:solidFill>
                <a:latin typeface="Noto Sans Thai"/>
                <a:ea typeface="Noto Sans Thai"/>
                <a:cs typeface="Noto Sans Thai"/>
              </a:rPr>
              <a:t>Industrial Pump XP-200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79835-D85E-4142-B5DF-1F25FB42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00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AA5A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AAA5AF"/>
                </a:solidFill>
                <a:latin typeface="Noto Sans Thai"/>
                <a:ea typeface="Noto Sans Thai"/>
                <a:cs typeface="Noto Sans Thai"/>
              </a:rPr>
              <a:t>จำนวน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CCD19-E63F-4CA7-9BB5-72301895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243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50 ตัว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9B8EE-4C3F-45A9-AC65-0853E10D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AA5A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AAA5AF"/>
                </a:solidFill>
                <a:latin typeface="Noto Sans Thai"/>
                <a:ea typeface="Noto Sans Thai"/>
                <a:cs typeface="Noto Sans Thai"/>
              </a:rPr>
              <a:t>ปลายทาง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ECC726-E9B0-4BA4-8EE7-8E3903B9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243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ระยอง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9369E-F4DB-4761-B59E-812906B9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00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AA5A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AAA5AF"/>
                </a:solidFill>
                <a:latin typeface="Noto Sans Thai"/>
                <a:ea typeface="Noto Sans Thai"/>
                <a:cs typeface="Noto Sans Thai"/>
              </a:rPr>
              <a:t>กำหนดเวลา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A2F5ED-64D6-4A69-94D4-857B2615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243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ภายในวันนี้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311FF-BA42-45D0-A109-F2BC292D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89A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FF89A2"/>
                </a:solidFill>
                <a:latin typeface="Noto Sans Thai"/>
                <a:ea typeface="Noto Sans Thai"/>
                <a:cs typeface="Noto Sans Thai"/>
              </a:rPr>
              <a:t>ขั้นต่อไป: ค้นข้อมูลและใช้กฎของบริษัท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6B9753-EDCB-41C2-B6AF-37337D0E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B6B1BC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B6B1BC"/>
                </a:solidFill>
                <a:latin typeface="Noto Sans Thai"/>
                <a:ea typeface="Noto Sans Thai"/>
                <a:cs typeface="Noto Sans Tha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38596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5b5884f5984209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F9EFA-3DD5-4676-AD38-A1C6C83B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ข้อมูลและกฎที่ระบบใช้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0A60F-2959-4451-BC40-B352266C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พนักงานตรวจสอบได้ว่าราคาและเงื่อนไขมาจากแหล่งใด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076D6-7444-47D8-B1ED-AF920A1C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สินค้า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7135D-D57C-45CB-98EC-D6C2B9C2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336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XP-200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E5F5B-7DF9-439C-B029-BDDF049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621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B8325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B83254"/>
                </a:solidFill>
                <a:latin typeface="Noto Sans Thai"/>
                <a:ea typeface="Noto Sans Thai"/>
                <a:cs typeface="Noto Sans Thai"/>
              </a:rPr>
              <a:t>Product Catalog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57107-DD20-427A-A235-BA168879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0E518C-AD5C-47C2-9E1D-55C5419F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ราคาต่อหน่วย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2B96B-281B-4745-AD58-1DEAD159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18,500 บาท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62BFE-2EFD-47BB-8AB2-8DBB16D1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860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B8325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B83254"/>
                </a:solidFill>
                <a:latin typeface="Noto Sans Thai"/>
                <a:ea typeface="Noto Sans Thai"/>
                <a:cs typeface="Noto Sans Thai"/>
              </a:rPr>
              <a:t>Price List Sep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6A241F-459C-4CEF-8BA7-ACAF05EF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8F9295-B1A8-4FE4-9E6C-E77ED01E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ส่วนลดโครงการ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9D88E-DDF8-4FC6-920E-078A46AF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814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7%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24BE7-DA2C-483C-B9E3-FD31FDB4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099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B8325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B83254"/>
                </a:solidFill>
                <a:latin typeface="Noto Sans Thai"/>
                <a:ea typeface="Noto Sans Thai"/>
                <a:cs typeface="Noto Sans Thai"/>
              </a:rPr>
              <a:t>Discount 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3DBDE6-5AC5-4E55-8F0D-7AF11092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3CDB7D-19CA-4418-A3A7-F5907306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สต็อกพร้อมส่ง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F363B-F69E-4C60-80CA-4EC61545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053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68 ตัว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2B3C5-BA04-44E0-BBBE-F91B99B3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33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B8325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B83254"/>
                </a:solidFill>
                <a:latin typeface="Noto Sans Thai"/>
                <a:ea typeface="Noto Sans Thai"/>
                <a:cs typeface="Noto Sans Thai"/>
              </a:rPr>
              <a:t>Stock Record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3F10D4-2BE6-4DB7-A8C0-1C33D6CC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445BE7-1C19-4205-B1D6-841FA721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จัดส่งระยอง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445BD7-A931-4F66-B6B5-58B37A73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292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ไม่มีค่าจัดส่ง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79E647-EC01-486A-9D54-2C728FB0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57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B8325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B83254"/>
                </a:solidFill>
                <a:latin typeface="Noto Sans Thai"/>
                <a:ea typeface="Noto Sans Thai"/>
                <a:cs typeface="Noto Sans Thai"/>
              </a:rPr>
              <a:t>Delivery Policy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CB98ED-0636-4764-B9BC-88DCB854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E699EB-68E3-4A7D-A384-DC61273C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95500"/>
            <a:ext cx="3362325" cy="30861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978FDD-DD6A-4B40-9CB8-E54AD278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14600"/>
            <a:ext cx="2695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BBB6C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BBB6C0"/>
                </a:solidFill>
                <a:latin typeface="Noto Sans Thai"/>
                <a:ea typeface="Noto Sans Thai"/>
                <a:cs typeface="Noto Sans Thai"/>
              </a:rPr>
              <a:t>ยอดสุทธิรวม VAT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8CB7BB-7AF2-4606-A106-2A60ACD3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28950"/>
            <a:ext cx="29813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8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8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920,467.50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ED045B-AEC8-4AFF-A105-38BCB886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90950"/>
            <a:ext cx="2695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89A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89A2"/>
                </a:solidFill>
                <a:latin typeface="Noto Sans Thai"/>
                <a:ea typeface="Noto Sans Thai"/>
                <a:cs typeface="Noto Sans Thai"/>
              </a:rPr>
              <a:t>บาท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8965F1-BC07-4719-A3B1-466CFE04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33875"/>
            <a:ext cx="2505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C495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D46E0F-25A3-48D7-92CA-0A2AC863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72000"/>
            <a:ext cx="2695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พร้อมส่งภายใน 3 วันทำการ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114069-A56A-4A87-B5B9-AE0B695F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476875"/>
            <a:ext cx="3362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9745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97451"/>
                </a:solidFill>
                <a:latin typeface="Noto Sans Thai"/>
                <a:ea typeface="Noto Sans Thai"/>
                <a:cs typeface="Noto Sans Thai"/>
              </a:rPr>
              <a:t>ทุกตัวเลขมีแหล่งอ้างอิง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B7C3DA-3BC9-45EF-A52B-BCE17754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734403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9215802884059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D63BC-3B5D-46DF-81EC-649FA875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ใบเสนอราคาพร้อมให้พนักงานตรวจ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06228-036C-4705-BB9C-A39AD777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AI เตรียมฉบับร่าง ส่วนคนยังตัดสินใจก่อนส่งให้ลูกค้า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3F0E4-57F2-4F66-8D6B-D594F261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858000" cy="3905250"/>
          </a:xfrm>
          <a:prstGeom xmlns:a="http://schemas.openxmlformats.org/drawingml/2006/main" prst="roundRect">
            <a:avLst>
              <a:gd name="adj" fmla="val 6341"/>
            </a:avLst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7FD4A-0685-4EC4-B45B-CCE7912F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ใบเสนอราคา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99EBA-BC0E-4AF3-8A76-663AAEC0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Eastern Industrial Supply Co., Ltd.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930284-2DD4-46A4-B449-434435FE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00300"/>
            <a:ext cx="1857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rPr>
              <a:t>QT-2026-0914-001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6D52E-70CA-4F55-91CD-CC25F388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575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05A92-42F5-4718-A7F5-5E84855C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718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Industrial Pump XP-200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568AA-095A-4D41-8227-16E438C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7187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0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50 ตัว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082EB-E0FA-4583-99BB-35A7B0A2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ราคาก่อน VAT หลังหักส่วนลด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82652-E2B9-49D7-9E22-420A48D8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2435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860,250.00 บาท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6B129F-21CF-476C-843F-34C5E8FD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72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ยอดสุทธิรวม VAT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647D68-095B-4C90-B3A2-28EA93C6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9585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00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rPr>
              <a:t>920,467.50 บาท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69835-FB6A-4340-8773-8F7046D3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38400"/>
            <a:ext cx="3552825" cy="2095500"/>
          </a:xfrm>
          <a:prstGeom xmlns:a="http://schemas.openxmlformats.org/drawingml/2006/main" prst="roundRect">
            <a:avLst>
              <a:gd name="adj" fmla="val 11818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783D9C-A90C-43BA-9E2A-DFC40435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14650"/>
            <a:ext cx="2886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พนักงานตรวจก่อนส่งจริง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FCB458-5DA3-4C48-B414-8BC8898A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00450"/>
            <a:ext cx="2790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D0CB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D0CBD3"/>
                </a:solidFill>
                <a:latin typeface="Noto Sans Thai"/>
                <a:ea typeface="Noto Sans Thai"/>
                <a:cs typeface="Noto Sans Thai"/>
              </a:rPr>
              <a:t>ตรวจยอด แก้ข้อความ แล้วจึงอนุมัติ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EEB20F-CEE8-4B8B-BDAF-8E6861AA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57750"/>
            <a:ext cx="2790825" cy="628650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E9517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CF547A-7408-4117-B17D-B1E860CB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029200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อนุมัติเอกสาร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C76733-8B7C-46C8-BE6F-9EAE8F1E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871991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9236a83b049c1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ED932-F772-47C1-B7BF-AE285181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เวลาที่เหลือสำหรับพนักงาน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BB012-DFB2-4390-8B2C-80DC8369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ระบบรับภาระการค้นและจัดทำฉบับร่าง พนักงานใช้เวลากับการตรวจสอบ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bf4da39414658"/>
          <a:srcRect xmlns:a="http://schemas.openxmlformats.org/drawingml/2006/main" l="7274" t="0" r="72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6600" y="1943100"/>
            <a:ext cx="4419600" cy="3448050"/>
          </a:xfrm>
          <a:prstGeom xmlns:a="http://schemas.openxmlformats.org/drawingml/2006/main" prst="roundRect">
            <a:avLst>
              <a:gd name="adj" fmla="val 773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A2777-C849-4B5F-B29A-911B0F2D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ก่อน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F5FA8-1715-414E-83FA-A07E9A4B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45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เกือบ 1 วัน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77E45-3ED7-446B-878B-A64BABCA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EDC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CA21B-8F37-41D4-9BE0-36156BBD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rPr>
              <a:t>หลัง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2B7D1-A2B0-4BDF-9813-737D986A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125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4125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rPr>
              <a:t>ตรวจประมาณ 3 นาที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66080-C2C2-4E1A-A6BD-1DF152AF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ตัวเลขจากสถานการณ์ตัวอย่าง ผลจริงต้องวัดจาก workflow ของแต่ละบริษัท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646A0-292A-4870-AAC6-88824815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910369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10fed8feb40cc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AD15C-D761-40F1-9394-FE0EB672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ข้อมูลบริษัทยังอยู่ภายใต้การควบคุม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FA455-C44E-4C96-AEF5-500F60C1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องค์กรกำหนดขอบเขต สิทธิ์เข้าถึง และรูปแบบการติดตั้งได้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26de2517a4332"/>
          <a:srcRect xmlns:a="http://schemas.openxmlformats.org/drawingml/2006/main" l="262" t="0" r="2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57400"/>
            <a:ext cx="5429250" cy="3638550"/>
          </a:xfrm>
          <a:prstGeom xmlns:a="http://schemas.openxmlformats.org/drawingml/2006/main" prst="roundRect">
            <a:avLst>
              <a:gd name="adj" fmla="val 733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E30AE-6CC6-40FE-943C-470E954D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193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3"/>
          </a:solidFill>
          <a:ln xmlns:a="http://schemas.openxmlformats.org/drawingml/2006/main" w="9525">
            <a:solidFill>
              <a:srgbClr val="E9517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0E6D3-A4B8-40F7-A896-BBA388E0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764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3C020-5135-434F-90AC-6B694848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907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ใช้เฉพาะข้อมูลที่จำเป็น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73A44-E6E5-4201-A064-557FBDA4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908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เริ่มจากข้อมูลจำลองหรือข้อมูลที่ปกปิดส่วนสำคัญได้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BEED0-A9FA-42CC-9496-24E3E9DD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432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3"/>
          </a:solidFill>
          <a:ln xmlns:a="http://schemas.openxmlformats.org/drawingml/2006/main" w="9525">
            <a:solidFill>
              <a:srgbClr val="E9517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2255A-57C7-474E-B201-EF828B17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04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701D4-0EEB-4FDC-95E3-5F806BED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147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กำหนดสิทธิ์และตรวจสอบที่มา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0016E8-2A88-42E6-A137-24C623C4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แยกข้อมูลตามบทบาทและบันทึกแหล่งที่ระบบใช้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AB1F78-96F8-431C-86E4-581E37B7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672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9525">
            <a:solidFill>
              <a:srgbClr val="118C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717F2-C193-4391-937E-6E31FC53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243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B92B82-DCDE-4DD1-B7AA-34BBE3D5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386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เลือกรูปแบบให้เหมาะกับความลับ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95C26-268F-43C8-B918-85546422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387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พิจารณา private, local หรือ hybrid ตามนโยบายองค์กร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7A0084-D4AA-4F7C-AD7C-9CD73D83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34050"/>
            <a:ext cx="461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ไม่มีระบบใดปราศจากความเสี่ยง เป้าหมายคือทำให้องค์กรกำหนดขอบเขตและตรวจสอบได้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68FA73-EA20-4A30-81D7-13DBE56A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465921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818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4E333E-B040-464A-8524-6AF771ED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4325"/>
            <a:ext cx="148590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77fc32a84458f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8EEEA-B6C0-4509-A6CB-0758CFBD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9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เริ่มจากหนึ่ง workflow ที่วัดผลได้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100B4-DD7E-493C-ACBD-5DD1EFAE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F89A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FF89A2"/>
                </a:solidFill>
                <a:latin typeface="Noto Sans Thai"/>
                <a:ea typeface="Noto Sans Thai"/>
                <a:cs typeface="Noto Sans Thai"/>
              </a:rPr>
              <a:t>AI Workflow 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464A6-FC10-44CE-AA64-6743E493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000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0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60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49,000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B4E77-1D2C-49CA-924F-018CBFA2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CFCA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CFCAD3"/>
                </a:solidFill>
                <a:latin typeface="Noto Sans Thai"/>
                <a:ea typeface="Noto Sans Thai"/>
                <a:cs typeface="Noto Sans Thai"/>
              </a:rPr>
              <a:t>บาท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92A39-F476-4AC6-A4CB-468A8314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ระยะเวลา 2–3 สัปดาห์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ED396-987D-4BCC-BBF8-6E6FF5B6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CFCA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CFCAD3"/>
                </a:solidFill>
                <a:latin typeface="Noto Sans Thai"/>
                <a:ea typeface="Noto Sans Thai"/>
                <a:cs typeface="Noto Sans Thai"/>
              </a:rPr>
              <a:t>วิเคราะห์งานจริงหนึ่งงาน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CFCA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CFCAD3"/>
                </a:solidFill>
                <a:latin typeface="Noto Sans Thai"/>
                <a:ea typeface="Noto Sans Thai"/>
                <a:cs typeface="Noto Sans Thai"/>
              </a:rPr>
              <a:t>สร้างต้นแบบตั้งแต่รับข้อมูลจนพร้อมอนุมัติ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CFCA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CFCAD3"/>
                </a:solidFill>
                <a:latin typeface="Noto Sans Thai"/>
                <a:ea typeface="Noto Sans Thai"/>
                <a:cs typeface="Noto Sans Thai"/>
              </a:rPr>
              <a:t>วัดผลก่อนและหลัง พร้อมแผนนำไปใช้จริง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F4C15C-C259-44D1-A86C-BA58F293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57350"/>
            <a:ext cx="4838700" cy="36195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29282E"/>
          </a:solidFill>
          <a:ln xmlns:a="http://schemas.openxmlformats.org/drawingml/2006/main" w="9525">
            <a:solidFill>
              <a:srgbClr val="4B48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6CB1A-2583-405D-8668-701F71E5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14550"/>
            <a:ext cx="3924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6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6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งานใดในบริษัทของคุณ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6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6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ที่ทีมต้องทำซ้ำทุกวัน?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EAE8D1-18F0-4B1B-8D26-14F856E1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38550"/>
            <a:ext cx="3924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89A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89A2"/>
                </a:solidFill>
                <a:latin typeface="Noto Sans Thai"/>
                <a:ea typeface="Noto Sans Thai"/>
                <a:cs typeface="Noto Sans Thai"/>
              </a:rPr>
              <a:t>นัด Workflow Assessment 30 นาที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21CCD-7DA7-4623-9AFE-1AD62F05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3124200" cy="590550"/>
          </a:xfrm>
          <a:prstGeom xmlns:a="http://schemas.openxmlformats.org/drawingml/2006/main" prst="roundRect">
            <a:avLst>
              <a:gd name="adj" fmla="val 32258"/>
            </a:avLst>
          </a:prstGeom>
          <a:solidFill xmlns:a="http://schemas.openxmlformats.org/drawingml/2006/main">
            <a:srgbClr val="E9517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00E3EB-19A2-4FB6-AF94-D459CA30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6722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apinan@gracer.co.th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B1E990-F2F9-45E2-83AE-97B5334F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483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D0CB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D0CBD3"/>
                </a:solidFill>
                <a:latin typeface="Noto Sans Thai"/>
                <a:ea typeface="Noto Sans Thai"/>
                <a:cs typeface="Noto Sans Thai"/>
              </a:rPr>
              <a:t>เริ่มเล็ก วัดผลจริง แล้วค่อยขยาย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04F71-AD00-40CB-B685-4F1DBA26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B6B1BC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B6B1BC"/>
                </a:solidFill>
                <a:latin typeface="Noto Sans Thai"/>
                <a:ea typeface="Noto Sans Thai"/>
                <a:cs typeface="Noto Sans Tha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833512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2026-09-13T14:48:08.0460000Z</dcterms:created>
  <dcterms:modified xsi:type="dcterms:W3CDTF">2026-09-13T14:48:08.0460000Z</dcterms:modified>
</coreProperties>
</file>