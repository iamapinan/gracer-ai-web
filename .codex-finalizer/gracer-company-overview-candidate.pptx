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6ac932ff9b434f" /><Relationship Type="http://schemas.openxmlformats.org/officeDocument/2006/relationships/extended-properties" Target="/docProps/app.xml" Id="Rf00471291c6d4d65" /><Relationship Type="http://schemas.openxmlformats.org/officeDocument/2006/relationships/officeDocument" Target="/ppt/presentation.xml" Id="Rca9aaf0a3b4f4f7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0fbd12e13744f0d"/>
  </p:sldMasterIdLst>
  <p:notesMasterIdLst>
    <p:notesMasterId xmlns:r="http://schemas.openxmlformats.org/officeDocument/2006/relationships" r:id="Rd0cc8098de5d4343"/>
  </p:notesMasterIdLst>
  <p:sldIdLst>
    <p:sldId xmlns:r="http://schemas.openxmlformats.org/officeDocument/2006/relationships" id="256" r:id="R339e56e06a304eb5"/>
    <p:sldId xmlns:r="http://schemas.openxmlformats.org/officeDocument/2006/relationships" id="257" r:id="Rc54d8b19a64f4aa6"/>
    <p:sldId xmlns:r="http://schemas.openxmlformats.org/officeDocument/2006/relationships" id="258" r:id="R495b24f4c0b04355"/>
    <p:sldId xmlns:r="http://schemas.openxmlformats.org/officeDocument/2006/relationships" id="259" r:id="R8b64435a22f54d9c"/>
    <p:sldId xmlns:r="http://schemas.openxmlformats.org/officeDocument/2006/relationships" id="260" r:id="R5c54e0649054446b"/>
    <p:sldId xmlns:r="http://schemas.openxmlformats.org/officeDocument/2006/relationships" id="261" r:id="Rc15bfead4820445c"/>
    <p:sldId xmlns:r="http://schemas.openxmlformats.org/officeDocument/2006/relationships" id="262" r:id="Rc138b67099254fb2"/>
    <p:sldId xmlns:r="http://schemas.openxmlformats.org/officeDocument/2006/relationships" id="263" r:id="Rd7707792fa714374"/>
    <p:sldId xmlns:r="http://schemas.openxmlformats.org/officeDocument/2006/relationships" id="264" r:id="Rc49e80ce3d764e09"/>
    <p:sldId xmlns:r="http://schemas.openxmlformats.org/officeDocument/2006/relationships" id="265" r:id="Rfeed23ed98b5404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86dc7f0d8174239" /><Relationship Type="http://schemas.openxmlformats.org/officeDocument/2006/relationships/slideMaster" Target="/ppt/slideMasters/slideMaster1.xml" Id="R80fbd12e13744f0d" /><Relationship Type="http://schemas.openxmlformats.org/officeDocument/2006/relationships/notesMaster" Target="/ppt/notesMasters/notesMaster1.xml" Id="Rd0cc8098de5d4343" /><Relationship Type="http://schemas.openxmlformats.org/officeDocument/2006/relationships/presProps" Target="/ppt/presProps.xml" Id="R6ea2990df84e46f8" /><Relationship Type="http://schemas.openxmlformats.org/officeDocument/2006/relationships/tableStyles" Target="/ppt/tableStyles.xml" Id="R009a27f44f8f451b" /><Relationship Type="http://schemas.openxmlformats.org/officeDocument/2006/relationships/slide" Target="/ppt/slides/slide1.xml" Id="R339e56e06a304eb5" /><Relationship Type="http://schemas.openxmlformats.org/officeDocument/2006/relationships/slide" Target="/ppt/slides/slide2.xml" Id="Rc54d8b19a64f4aa6" /><Relationship Type="http://schemas.openxmlformats.org/officeDocument/2006/relationships/slide" Target="/ppt/slides/slide3.xml" Id="R495b24f4c0b04355" /><Relationship Type="http://schemas.openxmlformats.org/officeDocument/2006/relationships/slide" Target="/ppt/slides/slide4.xml" Id="R8b64435a22f54d9c" /><Relationship Type="http://schemas.openxmlformats.org/officeDocument/2006/relationships/slide" Target="/ppt/slides/slide5.xml" Id="R5c54e0649054446b" /><Relationship Type="http://schemas.openxmlformats.org/officeDocument/2006/relationships/slide" Target="/ppt/slides/slide6.xml" Id="Rc15bfead4820445c" /><Relationship Type="http://schemas.openxmlformats.org/officeDocument/2006/relationships/slide" Target="/ppt/slides/slide7.xml" Id="Rc138b67099254fb2" /><Relationship Type="http://schemas.openxmlformats.org/officeDocument/2006/relationships/slide" Target="/ppt/slides/slide8.xml" Id="Rd7707792fa714374" /><Relationship Type="http://schemas.openxmlformats.org/officeDocument/2006/relationships/slide" Target="/ppt/slides/slide9.xml" Id="Rc49e80ce3d764e09" /><Relationship Type="http://schemas.openxmlformats.org/officeDocument/2006/relationships/slide" Target="/ppt/slides/slide10.xml" Id="Rfeed23ed98b5404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442a17c896b418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87002a3efa45e4" /><Relationship Type="http://schemas.openxmlformats.org/officeDocument/2006/relationships/notesMaster" Target="/ppt/notesMasters/notesMaster1.xml" Id="R17819dd94e744e8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1066990ff2c4783" /><Relationship Type="http://schemas.openxmlformats.org/officeDocument/2006/relationships/notesMaster" Target="/ppt/notesMasters/notesMaster1.xml" Id="R3d8c7c053797496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c1c1a688d004621" /><Relationship Type="http://schemas.openxmlformats.org/officeDocument/2006/relationships/notesMaster" Target="/ppt/notesMasters/notesMaster1.xml" Id="Rcf7700f13626400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154b241b3d049b7" /><Relationship Type="http://schemas.openxmlformats.org/officeDocument/2006/relationships/notesMaster" Target="/ppt/notesMasters/notesMaster1.xml" Id="R6d1f0b261d5f483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b712ee26e9447a3" /><Relationship Type="http://schemas.openxmlformats.org/officeDocument/2006/relationships/notesMaster" Target="/ppt/notesMasters/notesMaster1.xml" Id="Racd39ae104974c2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56ce48f37ec4783" /><Relationship Type="http://schemas.openxmlformats.org/officeDocument/2006/relationships/notesMaster" Target="/ppt/notesMasters/notesMaster1.xml" Id="R332a5357394f438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5cb195601f247e8" /><Relationship Type="http://schemas.openxmlformats.org/officeDocument/2006/relationships/notesMaster" Target="/ppt/notesMasters/notesMaster1.xml" Id="Rde2f4d1f196e4d0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ed48024f2764bad" /><Relationship Type="http://schemas.openxmlformats.org/officeDocument/2006/relationships/notesMaster" Target="/ppt/notesMasters/notesMaster1.xml" Id="Rb64c06156c5543f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5997b42ad684810" /><Relationship Type="http://schemas.openxmlformats.org/officeDocument/2006/relationships/notesMaster" Target="/ppt/notesMasters/notesMaster1.xml" Id="R60adf39804584e0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3187db69ea549ac" /><Relationship Type="http://schemas.openxmlformats.org/officeDocument/2006/relationships/notesMaster" Target="/ppt/notesMasters/notesMaster1.xml" Id="Re1debedfe59640c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เปิดด้วยภาพรวมว่า Gracer AI ช่วยองค์กรตั้งแต่การนำ AI ไปใช้จริง การกำกับดูแล ไปจนถึงการสร้างความพร้อมของทีม</a:t>
            </a:r>
          </a:p>
          <a:p xmlns:a="http://schemas.openxmlformats.org/drawingml/2006/main">
            <a:r>
              <a:t>แหล่งข้อมูล: PROJECT_CONTEXT.md และ src/translations/th.ts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อธิบายว่า Gracer AI ไม่ได้มีเพียงผลิตภัณฑ์เดียว แต่มีทั้งแพลตฟอร์ม บริการ ระบบควบคุม และการพัฒนาคนที่ทำงานร่วมกัน</a:t>
            </a:r>
          </a:p>
          <a:p xmlns:a="http://schemas.openxmlformats.org/drawingml/2006/main">
            <a:r>
              <a:t>แหล่งข้อมูล: src/components/LandingPage.tsx และ src/data/productDetails.ts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ใช้หน้านี้เป็นแผนที่ของเรื่องที่จะเล่าต่อ จากนั้นเจาะ AI Transformation ซึ่งเป็นจุดเริ่มต้นที่ลูกค้าเห็นผลลัพธ์ได้เร็วที่สุด</a:t>
            </a:r>
          </a:p>
          <a:p xmlns:a="http://schemas.openxmlformats.org/drawingml/2006/main">
            <a:r>
              <a:t>แหล่งข้อมูล: src/translations/th.ts และ src/components/LandingPage.tsx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เจาะลึกเฉพาะ Pillar นี้ โดยย้ำว่าเริ่มจากปัญหาธุรกิจ วัด baseline และออกแบบ human approval ก่อนนำขึ้นใช้งานจริง</a:t>
            </a:r>
          </a:p>
          <a:p xmlns:a="http://schemas.openxmlformats.org/drawingml/2006/main">
            <a:r>
              <a:t>แหล่งข้อมูล: src/data/productDetails.ts: AI Integration และ AI Workflow Consulting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แยกให้ผู้ชมเห็นทันทีว่า Bull Docs, Gvents และ HomePlace พร้อมเริ่มใช้งาน ส่วนโซลูชันอื่นต้องพูดคุยเพื่อออกแบบให้ตรงกับระบบงานและข้อมูลขององค์กร</a:t>
            </a:r>
          </a:p>
          <a:p xmlns:a="http://schemas.openxmlformats.org/drawingml/2006/main">
            <a:r>
              <a:t>แหล่งข้อมูล: ข้อมูลความพร้อมจากคำยืนยันของเจ้าของโครงการ และ src/data/productDetails.ts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เข้าสู่เดโมงานเสนอราคา อธิบายสี่ขั้นให้เร็วและชี้ว่า interface สนทนาเป็นเพียงจุดรับคำขอ ส่วนคุณค่าจริงอยู่ที่ workflow หลังจากนั้น</a:t>
            </a:r>
          </a:p>
          <a:p xmlns:a="http://schemas.openxmlformats.org/drawingml/2006/main">
            <a:r>
              <a:t>แหล่งข้อมูล: DEMO_SCRIPT.md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เปิดเผยผลลัพธ์ ชี้ราคา ส่วนลด สต็อก แหล่งข้อมูล และ human approval จากนั้นอธิบายว่าตัวเลขเวลานี้เป็นตัวอย่างที่ต้องวัดกับงานจริง</a:t>
            </a:r>
          </a:p>
          <a:p xmlns:a="http://schemas.openxmlformats.org/drawingml/2006/main">
            <a:r>
              <a:t>แหล่งข้อมูล: DEMO_SCRIPT.md และ SALES_PROPOSAL.md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พูดถึงผลิตภัณฑ์ทั้งสามแบบสั้น โดยเน้นผลทางธุรกิจมากกว่าศัพท์โครงสร้างพื้นฐาน และไม่รับรองว่าไม่มีความเสี่ยงเลย</a:t>
            </a:r>
          </a:p>
          <a:p xmlns:a="http://schemas.openxmlformats.org/drawingml/2006/main">
            <a:r>
              <a:t>แหล่งข้อมูล: src/data/productDetails.ts และ SALES_PROPOSAL.md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พูดถึงหลักสูตรทั้งสามให้ผู้ชมรู้ว่ามีทางเลือกตั้งแต่ระดับเริ่มต้นถึงการสร้าง workflow ขั้นสูง แต่ไม่ต้องลงรายละเอียดหลักสูตรในเด็คนี้</a:t>
            </a:r>
          </a:p>
          <a:p xmlns:a="http://schemas.openxmlformats.org/drawingml/2006/main">
            <a:r>
              <a:t>แหล่งข้อมูล: src/components/LandingPage.tsx และ src/data/productDetails.ts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ปิดด้วยสามทางเลือกตาม Pillar แล้วเสนอ Workflow Assessment พร้อมข้อเสนอเริ่มต้น 9,999 บาทสำหรับ SME ที่ยังต้องการเห็นภาพก่อนลงทุนระบบเต็มรูปแบบ รายละเอียดขอบเขตและระยะเวลาต้องยืนยันก่อนเริ่มงาน</a:t>
            </a:r>
          </a:p>
          <a:p xmlns:a="http://schemas.openxmlformats.org/drawingml/2006/main">
            <a:r>
              <a:t>แหล่งข้อมูล: EXECUTION_PLAN.md; ข้อเสนอเริ่มต้นจากคำยืนยันของเจ้าของโครงการ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d5fcfc37b64a4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1a80c4565914a26" /><Relationship Type="http://schemas.openxmlformats.org/officeDocument/2006/relationships/slideLayout" Target="/ppt/slideLayouts/slideLayout1.xml" Id="R0ab898d904d84c8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ab898d904d84c8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57f2e2498541c4" /><Relationship Type="http://schemas.openxmlformats.org/officeDocument/2006/relationships/image" Target="/ppt/media/image.png" Id="R854a7d6303e14ed9" /><Relationship Type="http://schemas.openxmlformats.org/officeDocument/2006/relationships/image" Target="/ppt/media/image2.png" Id="R3eac832f58e74e04" /><Relationship Type="http://schemas.openxmlformats.org/officeDocument/2006/relationships/notesSlide" Target="/ppt/notesSlides/notesSlide1.xml" Id="Rdab0ec24ad55453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d4763e5c63499b" /><Relationship Type="http://schemas.openxmlformats.org/officeDocument/2006/relationships/image" Target="/ppt/media/image3.png" Id="Rf1e2b4973c3348db" /><Relationship Type="http://schemas.openxmlformats.org/officeDocument/2006/relationships/image" Target="/ppt/media/image4.png" Id="R9875d4f20458481e" /><Relationship Type="http://schemas.openxmlformats.org/officeDocument/2006/relationships/notesSlide" Target="/ppt/notesSlides/notesSlide2.xml" Id="Rd976d6493141442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c9143aa346471c" /><Relationship Type="http://schemas.openxmlformats.org/officeDocument/2006/relationships/image" Target="/ppt/media/image5.png" Id="R847895abc056497f" /><Relationship Type="http://schemas.openxmlformats.org/officeDocument/2006/relationships/notesSlide" Target="/ppt/notesSlides/notesSlide3.xml" Id="Ra0e7b436c0354c5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d352626f4346bd" /><Relationship Type="http://schemas.openxmlformats.org/officeDocument/2006/relationships/image" Target="/ppt/media/image6.png" Id="R2649d0377c98455a" /><Relationship Type="http://schemas.openxmlformats.org/officeDocument/2006/relationships/image" Target="/ppt/media/image7.png" Id="Rfc63d3eccfda40ac" /><Relationship Type="http://schemas.openxmlformats.org/officeDocument/2006/relationships/notesSlide" Target="/ppt/notesSlides/notesSlide4.xml" Id="R1ed5b5b2f2aa4c0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edb309046f4619" /><Relationship Type="http://schemas.openxmlformats.org/officeDocument/2006/relationships/image" Target="/ppt/media/image8.png" Id="Rfc6711645bfa447e" /><Relationship Type="http://schemas.openxmlformats.org/officeDocument/2006/relationships/image" Target="/ppt/media/image9.png" Id="R9b1d9d5a468243fa" /><Relationship Type="http://schemas.openxmlformats.org/officeDocument/2006/relationships/image" Target="/ppt/media/image10.png" Id="R53e8bc2eb2e34083" /><Relationship Type="http://schemas.openxmlformats.org/officeDocument/2006/relationships/image" Target="/ppt/media/image11.png" Id="Raf59f1b2758e4750" /><Relationship Type="http://schemas.openxmlformats.org/officeDocument/2006/relationships/image" Target="/ppt/media/image12.png" Id="Rce9e65009a9d4f28" /><Relationship Type="http://schemas.openxmlformats.org/officeDocument/2006/relationships/image" Target="/ppt/media/image13.png" Id="R83d8f1444f8546d2" /><Relationship Type="http://schemas.openxmlformats.org/officeDocument/2006/relationships/image" Target="/ppt/media/image14.png" Id="R7a150218c7024f4b" /><Relationship Type="http://schemas.openxmlformats.org/officeDocument/2006/relationships/image" Target="/ppt/media/image15.png" Id="R2e200fbb30524b1f" /><Relationship Type="http://schemas.openxmlformats.org/officeDocument/2006/relationships/image" Target="/ppt/media/image16.png" Id="R6e9d983405fc4108" /><Relationship Type="http://schemas.openxmlformats.org/officeDocument/2006/relationships/notesSlide" Target="/ppt/notesSlides/notesSlide5.xml" Id="Ra4507183bb6f4b3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604946b19b4fe8" /><Relationship Type="http://schemas.openxmlformats.org/officeDocument/2006/relationships/image" Target="/ppt/media/image17.png" Id="Rd14396b883064cab" /><Relationship Type="http://schemas.openxmlformats.org/officeDocument/2006/relationships/notesSlide" Target="/ppt/notesSlides/notesSlide6.xml" Id="R9de98c6a12db4be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5dd6253c994f7f" /><Relationship Type="http://schemas.openxmlformats.org/officeDocument/2006/relationships/image" Target="/ppt/media/image18.png" Id="R0ae852bcaed34725" /><Relationship Type="http://schemas.openxmlformats.org/officeDocument/2006/relationships/notesSlide" Target="/ppt/notesSlides/notesSlide7.xml" Id="R5593ca8572424bd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c59ada7c6c49be" /><Relationship Type="http://schemas.openxmlformats.org/officeDocument/2006/relationships/image" Target="/ppt/media/image19.png" Id="R2d74a39c68d749b4" /><Relationship Type="http://schemas.openxmlformats.org/officeDocument/2006/relationships/image" Target="/ppt/media/image20.png" Id="Ra2cb871525b147ab" /><Relationship Type="http://schemas.openxmlformats.org/officeDocument/2006/relationships/notesSlide" Target="/ppt/notesSlides/notesSlide8.xml" Id="R211e3927daf4441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ab3a2ddd7d42a9" /><Relationship Type="http://schemas.openxmlformats.org/officeDocument/2006/relationships/image" Target="/ppt/media/image21.png" Id="Re802243d91df45cf" /><Relationship Type="http://schemas.openxmlformats.org/officeDocument/2006/relationships/image" Target="/ppt/media/image22.png" Id="Ra03aaf1d6f7b457d" /><Relationship Type="http://schemas.openxmlformats.org/officeDocument/2006/relationships/notesSlide" Target="/ppt/notesSlides/notesSlide9.xml" Id="R1ff463463e2343e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f5e384028b4f39" /><Relationship Type="http://schemas.openxmlformats.org/officeDocument/2006/relationships/image" Target="/ppt/media/image23.png" Id="Reef4f78b94074331" /><Relationship Type="http://schemas.openxmlformats.org/officeDocument/2006/relationships/notesSlide" Target="/ppt/notesSlides/notesSlide10.xml" Id="Ra9e41f3fd7a149d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18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4a7d6303e14ed9"/>
          <a:srcRect xmlns:a="http://schemas.openxmlformats.org/drawingml/2006/main" l="16111" t="0" r="1611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19700" y="0"/>
            <a:ext cx="69723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6D02D2-7D10-4270-B21F-28D6EA2A3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9531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940D42-84F2-45DC-BB75-88CDB4F10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7716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ac832f58e74e04"/>
          <a:stretch xmlns:a="http://schemas.openxmlformats.org/drawingml/2006/main"/>
        </p:blipFill>
        <p:spPr>
          <a:xfrm xmlns:a="http://schemas.openxmlformats.org/drawingml/2006/main">
            <a:off x="728663" y="495300"/>
            <a:ext cx="1381125" cy="2762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C42014-BE0C-4F2D-B437-4AB5B53B2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8DA6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FF8DA6"/>
                </a:solidFill>
                <a:latin typeface="Noto Sans Thai"/>
                <a:ea typeface="Noto Sans Thai"/>
                <a:cs typeface="Noto Sans Thai"/>
              </a:rPr>
              <a:t>GRACER 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7C0A8B-742A-4FE0-B814-3401631C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4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AI ที่ทำงานได้จริง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F3EC51-7870-487F-8290-13C87DFD0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125" b="1">
                <a:solidFill>
                  <a:srgbClr val="FF7898"/>
                </a:solidFill>
                <a:latin typeface="Noto Sans Thai"/>
                <a:ea typeface="Noto Sans Thai"/>
                <a:cs typeface="Noto Sans Thai"/>
              </a:defRPr>
            </a:pPr>
            <a:r>
              <a:rPr sz="4125" b="1">
                <a:solidFill>
                  <a:srgbClr val="FF7898"/>
                </a:solidFill>
                <a:latin typeface="Noto Sans Thai"/>
                <a:ea typeface="Noto Sans Thai"/>
                <a:cs typeface="Noto Sans Thai"/>
              </a:rPr>
              <a:t>สำหรับธุรกิจของคุณ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C164DE-A377-4A5F-A58D-B8B572D5C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3619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725" b="0">
                <a:solidFill>
                  <a:srgbClr val="D0CBD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0">
                <a:solidFill>
                  <a:srgbClr val="D0CBD3"/>
                </a:solidFill>
                <a:latin typeface="Noto Sans Thai"/>
                <a:ea typeface="Noto Sans Thai"/>
                <a:cs typeface="Noto Sans Thai"/>
              </a:rPr>
              <a:t>ระบบที่สร้างผลลัพธ์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725" b="0">
                <a:solidFill>
                  <a:srgbClr val="D0CBD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0">
                <a:solidFill>
                  <a:srgbClr val="D0CBD3"/>
                </a:solidFill>
                <a:latin typeface="Noto Sans Thai"/>
                <a:ea typeface="Noto Sans Thai"/>
                <a:cs typeface="Noto Sans Thai"/>
              </a:rPr>
              <a:t>การควบคุมที่เหมาะสม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725" b="0">
                <a:solidFill>
                  <a:srgbClr val="D0CBD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0">
                <a:solidFill>
                  <a:srgbClr val="D0CBD3"/>
                </a:solidFill>
                <a:latin typeface="Noto Sans Thai"/>
                <a:ea typeface="Noto Sans Thai"/>
                <a:cs typeface="Noto Sans Thai"/>
              </a:rPr>
              <a:t>ทีมที่พร้อมใช้งาน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B628FB-0FA9-4867-BB48-B0D9C6342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3714750" cy="5143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A292F"/>
          </a:solidFill>
          <a:ln xmlns:a="http://schemas.openxmlformats.org/drawingml/2006/main" w="9525">
            <a:solidFill>
              <a:srgbClr val="4A475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9ED31E-E235-4F87-9444-2AE6B9D97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91200"/>
            <a:ext cx="3295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SME CONNECT RAYONG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EAD74C-F7B5-4E1B-BCFC-929749188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7912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AAA5A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AAA5AF"/>
                </a:solidFill>
                <a:latin typeface="Noto Sans Thai"/>
                <a:ea typeface="Noto Sans Thai"/>
                <a:cs typeface="Noto Sans Thai"/>
              </a:rPr>
              <a:t>14 กันยายน 2026</a:t>
            </a:r>
          </a:p>
        </p:txBody>
      </p:sp>
    </p:spTree>
    <p:extLst>
      <p:ext uri="{BB962C8B-B14F-4D97-AF65-F5344CB8AC3E}">
        <p14:creationId xmlns:p14="http://schemas.microsoft.com/office/powerpoint/2010/main" val="14404063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e2b4973c3348db"/>
          <a:stretch xmlns:a="http://schemas.openxmlformats.org/drawingml/2006/main"/>
        </p:blipFill>
        <p:spPr>
          <a:xfrm xmlns:a="http://schemas.openxmlformats.org/drawingml/2006/main">
            <a:off x="685800" y="365760"/>
            <a:ext cx="1390650" cy="27813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C15A73-F1F9-47E6-B8A6-80FD5163B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36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Gracer AI ในภาพเดียว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2CD6E1-9F1D-4C7A-B197-E0B482003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AI Partner ที่เชื่อมข้อมูล ระบบ และคน ให้กลายเป็นการทำงานที่วัดผลได้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75d4f20458481e"/>
          <a:stretch xmlns:a="http://schemas.openxmlformats.org/drawingml/2006/main"/>
        </p:blipFill>
        <p:spPr>
          <a:xfrm xmlns:a="http://schemas.openxmlformats.org/drawingml/2006/main">
            <a:off x="900113" y="2266950"/>
            <a:ext cx="4714875" cy="3143250"/>
          </a:xfrm>
          <a:prstGeom xmlns:a="http://schemas.openxmlformats.org/drawingml/2006/main" prst="roundRect">
            <a:avLst>
              <a:gd name="adj" fmla="val 6061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609B7D-57DB-44FE-978E-927A5DBDC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4790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4B50B9"/>
                </a:solidFill>
                <a:latin typeface="Noto Sans Thai"/>
                <a:ea typeface="Noto Sans Thai"/>
                <a:cs typeface="Noto Sans Thai"/>
              </a:defRPr>
            </a:pPr>
            <a:r>
              <a:rPr sz="1950" b="1">
                <a:solidFill>
                  <a:srgbClr val="4B50B9"/>
                </a:solidFill>
                <a:latin typeface="Noto Sans Thai"/>
                <a:ea typeface="Noto Sans Thai"/>
                <a:cs typeface="Noto Sans Thai"/>
              </a:rPr>
              <a:t>Gracer AI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45A290-4BEC-4F97-A657-B3BE9CACF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05100"/>
            <a:ext cx="457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725" b="0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0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รากฐานสำหรับ AI Assistant แอปพลิเคชันองค์กร และโมเดลที่ใช้งานได้ทั้ง local หรือ hybrid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9432A9-F318-4F75-8585-1678495F8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576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52D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AD027F-F75A-4D1B-928C-7EE41545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9052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F581E5-0137-4946-A28F-797F49558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8481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นำไปใช้กับงานจริง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87738A-2B18-46D7-82EC-48092B8B2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133850"/>
            <a:ext cx="423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เชื่อม AI เข้ากับข้อมูลและระบบที่องค์กรมีอยู่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75F367-CA19-4D41-B885-ED9302CC6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5624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C8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CD23EB-04CE-4201-B501-7D60A237F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101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296C17-C07C-49C0-909B-F94E7669D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5529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ควบคุมได้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69D157-C6D6-4E1D-8FD9-B1B3D73A2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838700"/>
            <a:ext cx="423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กำหนดสิทธิ์ นโยบาย และจุดอนุมัติตามความเสี่ยง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529444-6BCB-449F-AFD2-4C321AEA0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2673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5172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F20C58-0199-4B08-9B73-F42A5A28F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3149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F6EF7C-14FE-4B81-994E-AC7A9CC6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578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ทีมใช้งานต่อได้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40ECA6-5B81-484B-9149-1C4F7A445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543550"/>
            <a:ext cx="423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พัฒนาทักษะและวิธีทำงานให้เกิดผลต่อเนื่อง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1613DB-7902-44A8-9242-748CCBE53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8A858E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8A858E"/>
                </a:solidFill>
                <a:latin typeface="Noto Sans Thai"/>
                <a:ea typeface="Noto Sans Thai"/>
                <a:cs typeface="Noto Sans Tha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370971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7895abc056497f"/>
          <a:stretch xmlns:a="http://schemas.openxmlformats.org/drawingml/2006/main"/>
        </p:blipFill>
        <p:spPr>
          <a:xfrm xmlns:a="http://schemas.openxmlformats.org/drawingml/2006/main">
            <a:off x="685800" y="365760"/>
            <a:ext cx="1390650" cy="27813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0B0442-DE40-42F6-B228-7122ABE1E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36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3 เสาหลักของ Gracer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7F5086-13CA-4B7F-A66E-F783B5916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แต่ละ Pillar แก้ปัญหาคนละส่วน แต่ทำงานร่วมกันในภาพเดียว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B11659-945B-496D-B05E-0F4FD8C76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3276600" cy="323850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C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51B9FE-DBDA-42AD-A4D3-24ECB299E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32766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652D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C257DD-45BA-40FF-BB2B-565CE78D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479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7652D6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1">
                <a:solidFill>
                  <a:srgbClr val="7652D6"/>
                </a:solidFill>
                <a:latin typeface="Noto Sans Thai"/>
                <a:ea typeface="Noto Sans Thai"/>
                <a:cs typeface="Noto Sans Thai"/>
              </a:rPr>
              <a:t>01 / 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AD1B23-989A-47AD-AD2D-E10698947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24200"/>
            <a:ext cx="2743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876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24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AI Transformation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C67604-1302-4101-8787-ABAADC9C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24300"/>
            <a:ext cx="274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C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ABD0C2-6274-4A4D-95B9-352B22B83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29100"/>
            <a:ext cx="27432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เปลี่ยนระบบงานเดิม โดยใช้ AI เข้ามาช่วยสร้างผลลัพธ์ทางธุรกิจ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D3FDE4-9DFF-4805-861B-3DDC173D8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66950"/>
            <a:ext cx="3276600" cy="323850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C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37E2D6-9010-41CA-81AA-E9F5FDF0E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66950"/>
            <a:ext cx="32766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8C8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530DED-F83F-4A91-AE0C-616D22547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479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18C8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1">
                <a:solidFill>
                  <a:srgbClr val="118C8B"/>
                </a:solidFill>
                <a:latin typeface="Noto Sans Thai"/>
                <a:ea typeface="Noto Sans Thai"/>
                <a:cs typeface="Noto Sans Thai"/>
              </a:rPr>
              <a:t>02 / 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4172F6-496D-49BE-B39B-48D6C6E0D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124200"/>
            <a:ext cx="2743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24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AI Governance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35BA2D-B06B-420D-84BA-9380C0884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924300"/>
            <a:ext cx="274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C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6C83EA-82BD-4F2E-9A7F-8F1C13347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229100"/>
            <a:ext cx="27432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ควบคุมการใช้ AI ด้วยนโยบาย สิทธิ์ ขอบเขตข้อมูล และหลักฐานที่ตรวจสอบได้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A126AB-AF98-4A89-A4E8-AA8E39431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66950"/>
            <a:ext cx="3276600" cy="323850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C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B5F47C-1C4A-4E79-96DB-9F25D3567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66950"/>
            <a:ext cx="32766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5172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075554-5DE2-47C5-B764-B568F7C0C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479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E9517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1">
                <a:solidFill>
                  <a:srgbClr val="E95172"/>
                </a:solidFill>
                <a:latin typeface="Noto Sans Thai"/>
                <a:ea typeface="Noto Sans Thai"/>
                <a:cs typeface="Noto Sans Thai"/>
              </a:rPr>
              <a:t>03 / 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EF546A-785A-4D40-A5C0-258765E9A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124200"/>
            <a:ext cx="2743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24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AI Training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C02629-C918-440F-96D6-F2DA711B5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924300"/>
            <a:ext cx="274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CE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6A4886-79DD-43C4-85C3-5BF0549D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229100"/>
            <a:ext cx="27432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พัฒนาคนให้เลือกใช้ AI ได้เหมาะกับงาน และต่อยอดเป็นวิธีทำงานขององค์กร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AC6B55-F1DD-4980-80FB-FA82027E1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43940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CEEF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A02118-14B4-4E9F-A43B-9FB9D8D9B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0"/>
            <a:ext cx="1005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4B50B9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4B50B9"/>
                </a:solidFill>
                <a:latin typeface="Noto Sans Thai"/>
                <a:ea typeface="Noto Sans Thai"/>
                <a:cs typeface="Noto Sans Thai"/>
              </a:rPr>
              <a:t>Gracer AI LLM และ Platform เป็นรากฐานที่รองรับโซลูชันในทุก Pillar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E323E5-BCBA-43B3-A560-E08994ECC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8A858E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8A858E"/>
                </a:solidFill>
                <a:latin typeface="Noto Sans Thai"/>
                <a:ea typeface="Noto Sans Thai"/>
                <a:cs typeface="Noto Sans Tha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744212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49d0377c98455a"/>
          <a:stretch xmlns:a="http://schemas.openxmlformats.org/drawingml/2006/main"/>
        </p:blipFill>
        <p:spPr>
          <a:xfrm xmlns:a="http://schemas.openxmlformats.org/drawingml/2006/main">
            <a:off x="685800" y="365760"/>
            <a:ext cx="1390650" cy="27813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4735FF-0F40-4002-80E6-BC3E82B21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36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AI Transformation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28AC4A-E62E-4571-AACB-32C2CDF27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เปลี่ยนงานที่กระจัดกระจายให้เป็นระบบที่ AI และคนทำงานร่วมกันได้จริง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63d3eccfda40ac"/>
          <a:srcRect xmlns:a="http://schemas.openxmlformats.org/drawingml/2006/main" l="7790" t="0" r="779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2057400"/>
            <a:ext cx="5314950" cy="3543300"/>
          </a:xfrm>
          <a:prstGeom xmlns:a="http://schemas.openxmlformats.org/drawingml/2006/main" prst="roundRect">
            <a:avLst>
              <a:gd name="adj" fmla="val 7527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5E26EE-5137-4FAD-9D8F-126236DBB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7652D6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7652D6"/>
                </a:solidFill>
                <a:latin typeface="Noto Sans Thai"/>
                <a:ea typeface="Noto Sans Thai"/>
                <a:cs typeface="Noto Sans Tha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C67039-875F-4F70-A569-92DD5AA24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145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เลือกงานที่คุ้มค่า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1A5925-A410-4147-8C32-FD8708058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5745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เริ่มจากงานที่เกิดซ้ำ ใช้เวลามาก และวัดผลก่อนกับหลังได้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09529E-E924-4286-BC13-C924508C9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C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B0923B-8F02-4C8D-BEF6-D0100B779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7652D6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7652D6"/>
                </a:solidFill>
                <a:latin typeface="Noto Sans Thai"/>
                <a:ea typeface="Noto Sans Thai"/>
                <a:cs typeface="Noto Sans Tha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62D44B-FF23-4913-ABE9-E2F7BE3D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099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เชื่อมข้อมูลและระบบเดิม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CADB53-9404-4ABE-9D1B-DAA437B34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528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เว็บไซต์ แอป LINE เอกสาร CRM, ERP และฐานข้อมูล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EBC371-73B5-412A-92E0-71AD48F2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C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920AC6-2908-4B98-ABC1-3BE6278B7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7652D6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7652D6"/>
                </a:solidFill>
                <a:latin typeface="Noto Sans Thai"/>
                <a:ea typeface="Noto Sans Thai"/>
                <a:cs typeface="Noto Sans Tha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75C8E4-8102-4379-BADE-985015483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052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วางจุดตัดสินใจของคน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648F15-E67D-47E3-B1F2-E9159654B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4815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ผลลัพธ์สำคัญต้องผ่านการตรวจและอนุมัติก่อนนำไปใช้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069D9C-D734-441E-B8AA-FC4A6F86C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C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2DE1FB-7063-4E18-83DF-6D63CB469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7652D6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7652D6"/>
                </a:solidFill>
                <a:latin typeface="Noto Sans Thai"/>
                <a:ea typeface="Noto Sans Thai"/>
                <a:cs typeface="Noto Sans Thai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C24204-EFE4-4742-AB08-5682A65FB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006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นำขึ้นใช้งานและปรับต่อ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B0CEF3-2BF7-4ACE-96C2-698FAFFD7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1435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ทดสอบคุณภาพ ความเร็ว ต้นทุน และ fallback ก่อนขยาย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7F22F3-D720-46F4-904C-5E0E769E1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810250"/>
            <a:ext cx="53149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1EC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4902FD-96EA-4A94-8596-455B634BB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905500"/>
            <a:ext cx="493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5E3EB5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5E3EB5"/>
                </a:solidFill>
                <a:latin typeface="Noto Sans Thai"/>
                <a:ea typeface="Noto Sans Thai"/>
                <a:cs typeface="Noto Sans Thai"/>
              </a:rPr>
              <a:t>AI Integration และ AI Workflow Consulting เป็นจุดเริ่มต้นหลัก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00134B-B187-4A4D-B1FD-2B59626E2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8A858E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8A858E"/>
                </a:solidFill>
                <a:latin typeface="Noto Sans Thai"/>
                <a:ea typeface="Noto Sans Thai"/>
                <a:cs typeface="Noto Sans Tha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449594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6711645bfa447e"/>
          <a:stretch xmlns:a="http://schemas.openxmlformats.org/drawingml/2006/main"/>
        </p:blipFill>
        <p:spPr>
          <a:xfrm xmlns:a="http://schemas.openxmlformats.org/drawingml/2006/main">
            <a:off x="685800" y="365760"/>
            <a:ext cx="1390650" cy="27813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AA4F43-CB1F-4632-90E8-697476370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36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โซลูชัน AI Transformation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A04F74-9770-46F2-9D5C-89938CC11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เลือกใช้ผลิตภัณฑ์ที่พร้อมเริ่มได้ทันที หรือติดต่อเพื่อออกแบบให้ตรงกับระบบงานขององค์กร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133263-A687-47D2-A550-5AB10A286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97451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1">
                <a:solidFill>
                  <a:srgbClr val="197451"/>
                </a:solidFill>
                <a:latin typeface="Noto Sans Thai"/>
                <a:ea typeface="Noto Sans Thai"/>
                <a:cs typeface="Noto Sans Thai"/>
              </a:rPr>
              <a:t>พร้อมใช้ได้ทันที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074130-709E-422F-9B63-765EB054F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4095750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CCF"/>
            </a:solidFill>
            <a:prstDash val="solid"/>
          </a:ln>
        </p:spPr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1d9d5a468243fa"/>
          <a:stretch xmlns:a="http://schemas.openxmlformats.org/drawingml/2006/main"/>
        </p:blipFill>
        <p:spPr>
          <a:xfrm xmlns:a="http://schemas.openxmlformats.org/drawingml/2006/main">
            <a:off x="876300" y="2809875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F78FF5-4B0E-4118-986F-B4062E9E8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813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Bull Docs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681FE0-191C-4260-BAF7-43DED9F20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1146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เอกสารบัญชีธุรกิจไทย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D46FA0-DDCC-4969-B549-386903F40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48075"/>
            <a:ext cx="4095750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CCF"/>
            </a:solidFill>
            <a:prstDash val="solid"/>
          </a:ln>
        </p:spPr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e8bc2eb2e34083"/>
          <a:stretch xmlns:a="http://schemas.openxmlformats.org/drawingml/2006/main"/>
        </p:blipFill>
        <p:spPr>
          <a:xfrm xmlns:a="http://schemas.openxmlformats.org/drawingml/2006/main">
            <a:off x="876300" y="3810000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AD1BDC-16CF-407E-A2B6-AFD171153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7814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Gvents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799E8B-7F37-4FEE-8699-EF70C944C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114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แพลตฟอร์มจัดการอีเวนต์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1BAECE-EFD0-454A-86D8-FDDEDA938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4095750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CCF"/>
            </a:solidFill>
            <a:prstDash val="solid"/>
          </a:ln>
        </p:spPr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59f1b2758e4750"/>
          <a:stretch xmlns:a="http://schemas.openxmlformats.org/drawingml/2006/main"/>
        </p:blipFill>
        <p:spPr>
          <a:xfrm xmlns:a="http://schemas.openxmlformats.org/drawingml/2006/main">
            <a:off x="876300" y="4810125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F64EAA-B42E-41D5-8F1B-A94B702C8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7815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HomePlace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6F2DDE-92F3-4DF7-90B5-DEE3A54F9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1149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ตลาดชุมชนผ่าน LINE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15AB32-B260-4D3A-BD9B-B323F488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4095750" cy="419100"/>
          </a:xfrm>
          <a:prstGeom xmlns:a="http://schemas.openxmlformats.org/drawingml/2006/main" prst="roundRect">
            <a:avLst>
              <a:gd name="adj" fmla="val 31818"/>
            </a:avLst>
          </a:prstGeom>
          <a:solidFill xmlns:a="http://schemas.openxmlformats.org/drawingml/2006/main">
            <a:srgbClr val="EAF6F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EC5194-6C88-4395-83D1-22DC12E30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81675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97451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1">
                <a:solidFill>
                  <a:srgbClr val="197451"/>
                </a:solidFill>
                <a:latin typeface="Noto Sans Thai"/>
                <a:ea typeface="Noto Sans Thai"/>
                <a:cs typeface="Noto Sans Thai"/>
              </a:rPr>
              <a:t>เริ่มต้นใช้งานจากผลิตภัณฑ์ที่มีอยู่ได้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51AE6D-3D8A-4A5F-9063-55285884A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71700"/>
            <a:ext cx="5886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5E3EB5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1">
                <a:solidFill>
                  <a:srgbClr val="5E3EB5"/>
                </a:solidFill>
                <a:latin typeface="Noto Sans Thai"/>
                <a:ea typeface="Noto Sans Thai"/>
                <a:cs typeface="Noto Sans Thai"/>
              </a:rPr>
              <a:t>ติดต่อเพื่อออกแบบก่อน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2C9897-5E5E-4B93-90B9-5E985A90D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47950"/>
            <a:ext cx="2838450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CE2"/>
            </a:solidFill>
            <a:prstDash val="solid"/>
          </a:ln>
        </p:spPr>
      </p:sp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9e65009a9d4f28"/>
          <a:stretch xmlns:a="http://schemas.openxmlformats.org/drawingml/2006/main"/>
        </p:blipFill>
        <p:spPr>
          <a:xfrm xmlns:a="http://schemas.openxmlformats.org/drawingml/2006/main">
            <a:off x="5391150" y="283845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B37507-5628-46BF-9687-BA9EF87F9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62250"/>
            <a:ext cx="188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AI Integration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367C77-4423-4F97-83FB-96137B93A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12420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เชื่อม AI กับระบบเดิม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0D4891-6189-4FC6-84A8-1912F4D29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47950"/>
            <a:ext cx="2838450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CE2"/>
            </a:solidFill>
            <a:prstDash val="solid"/>
          </a:ln>
        </p:spPr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d8f1444f8546d2"/>
          <a:stretch xmlns:a="http://schemas.openxmlformats.org/drawingml/2006/main"/>
        </p:blipFill>
        <p:spPr>
          <a:xfrm xmlns:a="http://schemas.openxmlformats.org/drawingml/2006/main">
            <a:off x="8420100" y="283845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A6EA8C-2911-4C55-A7AF-8799EF2CA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762250"/>
            <a:ext cx="188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348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AI Workflow Consulting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591EE0-1ECF-4964-ABFF-D70CC77B2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12420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ออกแบบ workflow ที่วัดผลได้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5D8CBB-F6FF-4F1F-B9D7-29BA9FEFD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648075"/>
            <a:ext cx="2838450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CE2"/>
            </a:solidFill>
            <a:prstDash val="solid"/>
          </a:ln>
        </p:spPr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150218c7024f4b"/>
          <a:stretch xmlns:a="http://schemas.openxmlformats.org/drawingml/2006/main"/>
        </p:blipFill>
        <p:spPr>
          <a:xfrm xmlns:a="http://schemas.openxmlformats.org/drawingml/2006/main">
            <a:off x="5391150" y="3838575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BBF13F-DCE3-4C4E-8E41-18D4CAF6A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762375"/>
            <a:ext cx="188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AI ERP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9BAAC0-99F3-45CD-9C10-D30B6443B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124325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ระบบหลังบ้านธุรกิจ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84819E6-77DA-4E21-A638-289EC4825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48075"/>
            <a:ext cx="2838450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CE2"/>
            </a:solidFill>
            <a:prstDash val="solid"/>
          </a:ln>
        </p:spPr>
      </p:sp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200fbb30524b1f"/>
          <a:stretch xmlns:a="http://schemas.openxmlformats.org/drawingml/2006/main"/>
        </p:blipFill>
        <p:spPr>
          <a:xfrm xmlns:a="http://schemas.openxmlformats.org/drawingml/2006/main">
            <a:off x="8420100" y="3838575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827DA20-946C-44D5-A564-678DFF4D2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762375"/>
            <a:ext cx="188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beOK BOQ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0481611-AD09-4132-B67B-7BF4B90B9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124325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ถอดแบบและประมาณราคา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C1B156B-B1C9-4A93-9C0C-FD58755D0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648200"/>
            <a:ext cx="2838450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CE2"/>
            </a:solidFill>
            <a:prstDash val="solid"/>
          </a:ln>
        </p:spPr>
      </p:sp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9d983405fc4108"/>
          <a:stretch xmlns:a="http://schemas.openxmlformats.org/drawingml/2006/main"/>
        </p:blipFill>
        <p:spPr>
          <a:xfrm xmlns:a="http://schemas.openxmlformats.org/drawingml/2006/main">
            <a:off x="5391150" y="48387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7657619-57C3-4593-A65E-39F76CDB5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762500"/>
            <a:ext cx="188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625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Food Cost &amp; Profit DNA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F06820D-5329-4877-896F-C62A1504C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12445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วิเคราะห์กำไรเมนูอาหาร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D274391-E9A7-4BA4-B03A-951512C0C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648200"/>
            <a:ext cx="2838450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F1ECFF"/>
          </a:solidFill>
          <a:ln xmlns:a="http://schemas.openxmlformats.org/drawingml/2006/main" w="9525">
            <a:solidFill>
              <a:srgbClr val="CFC4E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9C2FA0C-E452-4F04-B652-0D2E65730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810125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5E3EB5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5E3EB5"/>
                </a:solidFill>
                <a:latin typeface="Noto Sans Thai"/>
                <a:ea typeface="Noto Sans Thai"/>
                <a:cs typeface="Noto Sans Thai"/>
              </a:rPr>
              <a:t>ปรึกษาก่อนเริ่ม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AF5B1C3-1C75-421F-A044-A3BCE6E7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133975"/>
            <a:ext cx="2419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เพื่อกำหนดข้อมูล ระบบ และขอบเขต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8E9A9AD-6E18-4A77-B0CA-63E5FD79D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857875"/>
            <a:ext cx="588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สถานะความพร้อมอ้างอิงจากรูปแบบการให้บริการปัจจุบัน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762D063-9924-4A5D-AA36-256CD817C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8A858E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8A858E"/>
                </a:solidFill>
                <a:latin typeface="Noto Sans Thai"/>
                <a:ea typeface="Noto Sans Thai"/>
                <a:cs typeface="Noto Sans Tha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48567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818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D9EB45-8836-4817-AC54-0D13A38B6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14325"/>
            <a:ext cx="1485900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4396b883064cab"/>
          <a:stretch xmlns:a="http://schemas.openxmlformats.org/drawingml/2006/main"/>
        </p:blipFill>
        <p:spPr>
          <a:xfrm xmlns:a="http://schemas.openxmlformats.org/drawingml/2006/main">
            <a:off x="685800" y="365760"/>
            <a:ext cx="1390650" cy="27813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A8BB17-4303-4C8E-80F3-7E932F298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36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ตัวอย่าง AI Workflow สำหรับงานเสนอราคา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93B672-2172-40EE-A738-5AE33BC0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D4CFD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0">
                <a:solidFill>
                  <a:srgbClr val="D4CFD8"/>
                </a:solidFill>
                <a:latin typeface="Noto Sans Thai"/>
                <a:ea typeface="Noto Sans Thai"/>
                <a:cs typeface="Noto Sans Thai"/>
              </a:rPr>
              <a:t>จากข้อความลูกค้าหนึ่งบรรทัด ถึงเอกสารฉบับร่างที่พร้อมตรวจ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2A8D9E-5588-487B-962C-6F49F7D36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0820400" cy="857250"/>
          </a:xfrm>
          <a:prstGeom xmlns:a="http://schemas.openxmlformats.org/drawingml/2006/main" prst="roundRect">
            <a:avLst>
              <a:gd name="adj" fmla="val 24444"/>
            </a:avLst>
          </a:prstGeom>
          <a:solidFill xmlns:a="http://schemas.openxmlformats.org/drawingml/2006/main">
            <a:srgbClr val="2C2B30"/>
          </a:solidFill>
          <a:ln xmlns:a="http://schemas.openxmlformats.org/drawingml/2006/main" w="9525">
            <a:solidFill>
              <a:srgbClr val="4A475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F9F37A-51F6-408A-A321-D4F8C1AD7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479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“ขอราคา Pump รุ่น XP-200 จำนวน 50 ตัว ส่งระยอง ขอภายในวันนี้”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361100-2514-4FC8-9485-3321147AC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14800"/>
            <a:ext cx="857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25E6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CE1C46-9765-46C9-A01F-C0FE7D80F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290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C879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1CA5B5-A128-498C-9472-06E98D7BA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9909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C1B8D6-65A2-46D2-ADB9-B640402B5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1010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เข้าใจคำขอ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7287F8-10E8-43D6-9C12-78C66D8C1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10150"/>
            <a:ext cx="2019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BDB8C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BDB8C3"/>
                </a:solidFill>
                <a:latin typeface="Noto Sans Thai"/>
                <a:ea typeface="Noto Sans Thai"/>
                <a:cs typeface="Noto Sans Thai"/>
              </a:rPr>
              <a:t>สินค้า จำนวน ปลายทาง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8616EB-0313-4FAE-81AB-EF69247AD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8290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C879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61CA01-7C03-4D20-8A15-9E15613EB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9909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B7BF36-3B84-4076-BA3B-D718E399B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61010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ค้นข้อมูลภายใน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CE5AF8-1BD9-4A5E-9B4C-D90EE9209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010150"/>
            <a:ext cx="2019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BDB8C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BDB8C3"/>
                </a:solidFill>
                <a:latin typeface="Noto Sans Thai"/>
                <a:ea typeface="Noto Sans Thai"/>
                <a:cs typeface="Noto Sans Thai"/>
              </a:rPr>
              <a:t>ราคา สต็อก นโยบาย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28C760-B282-4326-8013-F0470D0AC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290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C879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340E06-28FD-4BDE-97B5-5FDEB95DA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9909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17A225-A9CF-454D-8986-AA095C376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61010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ใช้กฎธุรกิจ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576216-B307-42E3-A54E-4D10BF283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010150"/>
            <a:ext cx="2019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BDB8C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BDB8C3"/>
                </a:solidFill>
                <a:latin typeface="Noto Sans Thai"/>
                <a:ea typeface="Noto Sans Thai"/>
                <a:cs typeface="Noto Sans Thai"/>
              </a:rPr>
              <a:t>ส่วนลดและการจัดส่ง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0EF761-7B47-4CC3-8821-3DD5957AC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8290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5172"/>
          </a:solidFill>
          <a:ln xmlns:a="http://schemas.openxmlformats.org/drawingml/2006/main" w="9525">
            <a:solidFill>
              <a:srgbClr val="E9517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571087-E2FF-45C3-BA59-5CE93A42A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9909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84C86F-1BCF-439E-B913-02AB247C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61010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สร้างฉบับร่าง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A6FB40-80B7-4037-BE22-0F48F1587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010150"/>
            <a:ext cx="2019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BDB8C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BDB8C3"/>
                </a:solidFill>
                <a:latin typeface="Noto Sans Thai"/>
                <a:ea typeface="Noto Sans Thai"/>
                <a:cs typeface="Noto Sans Thai"/>
              </a:rPr>
              <a:t>ใบเสนอราคาและข้อความตอบ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0EA64A-4228-40E5-8489-5CE874D6A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791200"/>
            <a:ext cx="586740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3A2730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F8FFD6-2FE3-43AA-991D-96B1599B3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886450"/>
            <a:ext cx="548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F91A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FF91A8"/>
                </a:solidFill>
                <a:latin typeface="Noto Sans Thai"/>
                <a:ea typeface="Noto Sans Thai"/>
                <a:cs typeface="Noto Sans Thai"/>
              </a:rPr>
              <a:t>ทุกขั้นใช้ข้อมูลที่องค์กรอนุญาต และรอคนตรวจในจุดสำคัญ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343DFF-5A57-4E6D-ACD9-52A5BFB5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B6B1BC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B6B1BC"/>
                </a:solidFill>
                <a:latin typeface="Noto Sans Thai"/>
                <a:ea typeface="Noto Sans Thai"/>
                <a:cs typeface="Noto Sans Tha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325734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e852bcaed34725"/>
          <a:stretch xmlns:a="http://schemas.openxmlformats.org/drawingml/2006/main"/>
        </p:blipFill>
        <p:spPr>
          <a:xfrm xmlns:a="http://schemas.openxmlformats.org/drawingml/2006/main">
            <a:off x="685800" y="365760"/>
            <a:ext cx="1390650" cy="27813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8F6CC4-BA4E-4CB2-9AEB-C6F57E25C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36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ผลลัพธ์พร้อมให้พนักงานตรวจ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98B28E-8837-4369-B4C6-2F44F8492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AI เตรียมใบเสนอราคาและข้อความตอบลูกค้า ส่วนคนยังอนุมัติก่อนส่ง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B12B3D-3A8A-4B8F-91DD-2C2A03797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6667500" cy="3448050"/>
          </a:xfrm>
          <a:prstGeom xmlns:a="http://schemas.openxmlformats.org/drawingml/2006/main" prst="roundRect">
            <a:avLst>
              <a:gd name="adj" fmla="val 6630"/>
            </a:avLst>
          </a:prstGeom>
          <a:solidFill xmlns:a="http://schemas.openxmlformats.org/drawingml/2006/main">
            <a:srgbClr val="FAFAF7"/>
          </a:solidFill>
          <a:ln xmlns:a="http://schemas.openxmlformats.org/drawingml/2006/main" w="9525">
            <a:solidFill>
              <a:srgbClr val="DEDC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CC2D36-5A30-4C12-A413-13BBA7D0D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384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7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ใบเสนอราคา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C39C38-9725-445C-A33E-6545C7DB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384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Eastern Industrial Supply Co., Ltd.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1E4318-744F-4859-A5FD-F3D3FB316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4574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B8325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1">
                <a:solidFill>
                  <a:srgbClr val="B83254"/>
                </a:solidFill>
                <a:latin typeface="Noto Sans Thai"/>
                <a:ea typeface="Noto Sans Thai"/>
                <a:cs typeface="Noto Sans Thai"/>
              </a:rPr>
              <a:t>QT-2026-0914-001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17232A-28D8-4AC4-A208-315E31F7A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76600"/>
            <a:ext cx="600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C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E775B6-4E9C-44C7-831D-08D3B280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004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Industrial Pump XP-200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9AF114-56DC-479F-A055-BA384EF52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00450"/>
            <a:ext cx="100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50 ตัว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374765-242F-40DA-AE19-9AE7B42B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672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ส่วนลดโครงการ 7%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783C21-95B5-4FAC-8E5E-DF8B39684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577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ยอดสุทธิรวม VAT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44D99B-11E6-4995-B4F8-5E692BB19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7625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2100" b="1">
                <a:solidFill>
                  <a:srgbClr val="B83254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B83254"/>
                </a:solidFill>
                <a:latin typeface="Noto Sans Thai"/>
                <a:ea typeface="Noto Sans Thai"/>
                <a:cs typeface="Noto Sans Thai"/>
              </a:rPr>
              <a:t>920,467.50 บาท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44A955-C664-472E-98A2-94B0E3AD4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3431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ก่อน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3EE92D-8263-4166-A9AF-9D534BF9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647950"/>
            <a:ext cx="323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22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322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เกือบ 1 วัน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54CF74-9ED2-4C73-A273-186AF1DF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486150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EDC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BEE443-109B-4D35-AC63-EA99E3970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7909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B8325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B83254"/>
                </a:solidFill>
                <a:latin typeface="Noto Sans Thai"/>
                <a:ea typeface="Noto Sans Thai"/>
                <a:cs typeface="Noto Sans Thai"/>
              </a:rPr>
              <a:t>หลัง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8C22D4-F270-43F9-8BE8-7A71F04B8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338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E9517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E95172"/>
                </a:solidFill>
                <a:latin typeface="Noto Sans Thai"/>
                <a:ea typeface="Noto Sans Thai"/>
                <a:cs typeface="Noto Sans Thai"/>
              </a:rPr>
              <a:t>ตรวจประมาณ 3 นาที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4A7E14-A579-4FAA-856F-03A8C2CA7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067300"/>
            <a:ext cx="323850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18181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06E939-AF05-4C2C-A9FB-E818AD474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2197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พนักงานตรวจ แก้ไข และอนุมัติ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3880B4-9F9B-40E5-81E2-E31BACC03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790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ตัวเลขจากสถานการณ์ตัวอย่าง ผลจริงต้องวัดจาก workflow ของแต่ละบริษัท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9D9340-BD50-4192-B865-8CC1C4A83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8A858E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8A858E"/>
                </a:solidFill>
                <a:latin typeface="Noto Sans Thai"/>
                <a:ea typeface="Noto Sans Thai"/>
                <a:cs typeface="Noto Sans Tha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0066047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74a39c68d749b4"/>
          <a:stretch xmlns:a="http://schemas.openxmlformats.org/drawingml/2006/main"/>
        </p:blipFill>
        <p:spPr>
          <a:xfrm xmlns:a="http://schemas.openxmlformats.org/drawingml/2006/main">
            <a:off x="685800" y="365760"/>
            <a:ext cx="1390650" cy="27813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52CD0B-0389-4C7D-84C2-5EADF65BB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36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AI Governance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D36C7E-C4B3-45DE-B91D-B5D50F6EB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การควบคุมช่วยให้องค์กรใช้ AI ได้ต่อเนื่อง โดยรู้ว่าใครใช้ข้อมูลอะไรและอนุมัติเมื่อใด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cb871525b147ab"/>
          <a:srcRect xmlns:a="http://schemas.openxmlformats.org/drawingml/2006/main" l="94" t="0" r="9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171700"/>
            <a:ext cx="5048250" cy="3371850"/>
          </a:xfrm>
          <a:prstGeom xmlns:a="http://schemas.openxmlformats.org/drawingml/2006/main" prst="roundRect">
            <a:avLst>
              <a:gd name="adj" fmla="val 7910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E1F4E9-46C5-4A77-971F-4AE9058B1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531495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C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551B20-F9D2-4E9D-9079-E5A79ED9F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574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7F6"/>
          </a:solidFill>
          <a:ln xmlns:a="http://schemas.openxmlformats.org/drawingml/2006/main" w="9525">
            <a:solidFill>
              <a:srgbClr val="118C8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136482-DC8A-4063-BF2A-3D34B2E58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6222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8706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1">
                <a:solidFill>
                  <a:srgbClr val="08706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51690A-7547-4CDD-ABCD-EAE4884AF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4003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GeGi AI Control Plan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05D83B-7A44-42AA-8539-E96B8B18C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7241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กำหนดบทบาท เครื่องมือ โมเดล และ approval ของ AI agents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7BE471-2310-43C8-9306-66601013C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14700"/>
            <a:ext cx="531495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C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6E0FCA-3CAE-4278-B698-58945836B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24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7F6"/>
          </a:solidFill>
          <a:ln xmlns:a="http://schemas.openxmlformats.org/drawingml/2006/main" w="9525">
            <a:solidFill>
              <a:srgbClr val="118C8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DFBC21-E0D4-4AF0-A48D-E797EF0A2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2902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8706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1">
                <a:solidFill>
                  <a:srgbClr val="08706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F71260-F1F2-4ADD-A9BC-2A0299105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4671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AI Gateway &amp; Optimization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B7EC30-01B8-4354-810F-1B51D41DB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7909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จัดเส้นทางหลายโมเดล พร้อมควบคุมคุณภาพ ความเร็ว และต้นทุน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710103-FA16-41D4-BA3F-515A1413F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81500"/>
            <a:ext cx="531495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C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643D2E-93B2-4B41-BFFD-BD6155481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910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7F6"/>
          </a:solidFill>
          <a:ln xmlns:a="http://schemas.openxmlformats.org/drawingml/2006/main" w="9525">
            <a:solidFill>
              <a:srgbClr val="118C8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8FF0E1-2C58-4A56-A41D-24BDD71E0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9582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8706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1">
                <a:solidFill>
                  <a:srgbClr val="08706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2C9428-B542-4858-AE66-9F5D8C951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5339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RAG &amp; Sandbox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FDA75F-5A3E-4A0C-97BD-B5D9245B4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8577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ให้ AI ใช้ความรู้องค์กรและเครื่องมือจริงในขอบเขตที่ตรวจสอบได้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0EB9C2-7562-47D6-9301-222BA1AF1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581650"/>
            <a:ext cx="53149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118C8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18C6EB-3317-4A87-AE2D-22319C1F0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734050"/>
            <a:ext cx="483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เป้าหมายคือกำหนดขอบเขต ตรวจสอบได้ และลดความเสี่ยง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B3DABE-537C-410C-8011-9519EF544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8A858E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8A858E"/>
                </a:solidFill>
                <a:latin typeface="Noto Sans Thai"/>
                <a:ea typeface="Noto Sans Thai"/>
                <a:cs typeface="Noto Sans Tha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276343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02243d91df45cf"/>
          <a:stretch xmlns:a="http://schemas.openxmlformats.org/drawingml/2006/main"/>
        </p:blipFill>
        <p:spPr>
          <a:xfrm xmlns:a="http://schemas.openxmlformats.org/drawingml/2006/main">
            <a:off x="685800" y="365760"/>
            <a:ext cx="1390650" cy="27813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86617F-FD57-4D3C-BA6A-60AA980B5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360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AI Training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C97E67-6B3C-41B9-B946-1FDC69685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ทีมต้องเข้าใจทั้งการใช้เครื่องมือ การออกแบบ workflow และขอบเขตข้อมูลที่เหมาะสม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3aaf1d6f7b457d"/>
          <a:srcRect xmlns:a="http://schemas.openxmlformats.org/drawingml/2006/main" l="7710" t="0" r="771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96050" y="2114550"/>
            <a:ext cx="5010150" cy="3333750"/>
          </a:xfrm>
          <a:prstGeom xmlns:a="http://schemas.openxmlformats.org/drawingml/2006/main" prst="roundRect">
            <a:avLst>
              <a:gd name="adj" fmla="val 8000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E35384-E566-42BA-BAA1-9061BCD76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E9517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E95172"/>
                </a:solidFill>
                <a:latin typeface="Noto Sans Thai"/>
                <a:ea typeface="Noto Sans Thai"/>
                <a:cs typeface="Noto Sans Tha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F5AEB3-1539-4367-85CB-62D952A1B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526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Basic AI for Business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74D3A8-00BC-4A23-B4EF-05BF3734C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527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เริ่มใช้ AI กับงานประจำอย่างมีวิจารณญาณ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098FA6-8522-4CF5-BB3C-C049ACA92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C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790D54-FCDA-4333-BDC1-630C2EC1D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E9517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E95172"/>
                </a:solidFill>
                <a:latin typeface="Noto Sans Thai"/>
                <a:ea typeface="Noto Sans Thai"/>
                <a:cs typeface="Noto Sans Tha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F291F8-4657-42F8-8BBF-75B2668C6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766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Advanced AI Workflow Development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97E0B6-A82D-4D94-8E1C-CF98A8626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766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ออกแบบระบบที่เชื่อมข้อมูล เครื่องมือ และการตัดสินใจ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F3CB88-5A71-4B79-84DE-7A77376B0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C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1728BC-E730-41CA-9D45-1C9C099BC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E9517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E95172"/>
                </a:solidFill>
                <a:latin typeface="Noto Sans Thai"/>
                <a:ea typeface="Noto Sans Thai"/>
                <a:cs typeface="Noto Sans Tha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21A0A4-148F-4123-97A7-394F4DD00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005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8181B"/>
                </a:solidFill>
                <a:latin typeface="Noto Sans Thai"/>
                <a:ea typeface="Noto Sans Thai"/>
                <a:cs typeface="Noto Sans Thai"/>
              </a:rPr>
              <a:t>10X AI Business Workshop for SMEs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CCF28C-32D7-43C0-A4D5-5478E48E6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006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0">
                <a:solidFill>
                  <a:srgbClr val="625F67"/>
                </a:solidFill>
                <a:latin typeface="Noto Sans Thai"/>
                <a:ea typeface="Noto Sans Thai"/>
                <a:cs typeface="Noto Sans Thai"/>
              </a:rPr>
              <a:t>สร้าง AI Co-Pilot จากสถานการณ์ธุรกิจจริง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F114F7-7BBB-49AC-9DA3-E2E197E89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10820400" cy="457200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FFF0F3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586CCF-A972-4182-AEDA-A95FB8CB1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48350"/>
            <a:ext cx="10363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B8325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B83254"/>
                </a:solidFill>
                <a:latin typeface="Noto Sans Thai"/>
                <a:ea typeface="Noto Sans Thai"/>
                <a:cs typeface="Noto Sans Thai"/>
              </a:rPr>
              <a:t>Training ช่วยให้องค์กรไม่ต้องพึ่งคนเพียงไม่กี่คนในการขับเคลื่อน AI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9AE9B8-F9AF-4A46-9582-34BF40209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8A858E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8A858E"/>
                </a:solidFill>
                <a:latin typeface="Noto Sans Thai"/>
                <a:ea typeface="Noto Sans Thai"/>
                <a:cs typeface="Noto Sans Tha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4171541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818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9A759D-C166-49FC-879A-AE257049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14325"/>
            <a:ext cx="1485900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f4f78b94074331"/>
          <a:stretch xmlns:a="http://schemas.openxmlformats.org/drawingml/2006/main"/>
        </p:blipFill>
        <p:spPr>
          <a:xfrm xmlns:a="http://schemas.openxmlformats.org/drawingml/2006/main">
            <a:off x="685800" y="365760"/>
            <a:ext cx="1390650" cy="27813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18D2E4-5249-40CD-B635-C971727BF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36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เริ่มจากงานที่สำคัญที่สุดของธุรกิจ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3599B1-7420-47FD-8019-9AF714B4B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D4CFD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0">
                <a:solidFill>
                  <a:srgbClr val="D4CFD8"/>
                </a:solidFill>
                <a:latin typeface="Noto Sans Thai"/>
                <a:ea typeface="Noto Sans Thai"/>
                <a:cs typeface="Noto Sans Thai"/>
              </a:rPr>
              <a:t>Gracer AI ช่วยเลือกจุดเริ่มต้นให้เหมาะกับปัญหา ความพร้อม และระดับการควบคุมที่ต้องการ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56280B-2C8B-46C4-83D4-01BCF2E4F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3276600" cy="1409700"/>
          </a:xfrm>
          <a:prstGeom xmlns:a="http://schemas.openxmlformats.org/drawingml/2006/main" prst="roundRect">
            <a:avLst>
              <a:gd name="adj" fmla="val 14865"/>
            </a:avLst>
          </a:prstGeom>
          <a:solidFill xmlns:a="http://schemas.openxmlformats.org/drawingml/2006/main">
            <a:srgbClr val="29282E"/>
          </a:solidFill>
          <a:ln xmlns:a="http://schemas.openxmlformats.org/drawingml/2006/main" w="9525">
            <a:solidFill>
              <a:srgbClr val="4A475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D666DF-E35A-475B-97DB-3AE8600F4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32766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652D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5B3BA3-264D-4968-9FAE-DAE5AAC0D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281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CFCAD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CFCAD3"/>
                </a:solidFill>
                <a:latin typeface="Noto Sans Thai"/>
                <a:ea typeface="Noto Sans Thai"/>
                <a:cs typeface="Noto Sans Thai"/>
              </a:rPr>
              <a:t>ต้องการผลลัพธ์จากงานจริง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F020C3-FB1F-4C54-9252-AA9EDC7F5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7652D6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1">
                <a:solidFill>
                  <a:srgbClr val="7652D6"/>
                </a:solidFill>
                <a:latin typeface="Noto Sans Thai"/>
                <a:ea typeface="Noto Sans Thai"/>
                <a:cs typeface="Noto Sans Thai"/>
              </a:rPr>
              <a:t>AI Transformation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D2DAA1-67A1-454D-BAB8-C6693FB5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400300"/>
            <a:ext cx="3276600" cy="1409700"/>
          </a:xfrm>
          <a:prstGeom xmlns:a="http://schemas.openxmlformats.org/drawingml/2006/main" prst="roundRect">
            <a:avLst>
              <a:gd name="adj" fmla="val 14865"/>
            </a:avLst>
          </a:prstGeom>
          <a:solidFill xmlns:a="http://schemas.openxmlformats.org/drawingml/2006/main">
            <a:srgbClr val="29282E"/>
          </a:solidFill>
          <a:ln xmlns:a="http://schemas.openxmlformats.org/drawingml/2006/main" w="9525">
            <a:solidFill>
              <a:srgbClr val="4A475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477BE5-D0ED-4233-9B7F-5407BDDDA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400300"/>
            <a:ext cx="32766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8C8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B35E36-3CB2-4CD4-988C-8ECDEDB4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24150"/>
            <a:ext cx="281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CFCAD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CFCAD3"/>
                </a:solidFill>
                <a:latin typeface="Noto Sans Thai"/>
                <a:ea typeface="Noto Sans Thai"/>
                <a:cs typeface="Noto Sans Thai"/>
              </a:rPr>
              <a:t>ต้องการควบคุมการใช้ AI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69DDFD-C87A-46A9-89B1-F1FF25FB0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1813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118C8B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1">
                <a:solidFill>
                  <a:srgbClr val="118C8B"/>
                </a:solidFill>
                <a:latin typeface="Noto Sans Thai"/>
                <a:ea typeface="Noto Sans Thai"/>
                <a:cs typeface="Noto Sans Thai"/>
              </a:rPr>
              <a:t>AI Governance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4B17B8-82BE-4640-A3C7-106B66D5F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00300"/>
            <a:ext cx="3276600" cy="1409700"/>
          </a:xfrm>
          <a:prstGeom xmlns:a="http://schemas.openxmlformats.org/drawingml/2006/main" prst="roundRect">
            <a:avLst>
              <a:gd name="adj" fmla="val 14865"/>
            </a:avLst>
          </a:prstGeom>
          <a:solidFill xmlns:a="http://schemas.openxmlformats.org/drawingml/2006/main">
            <a:srgbClr val="29282E"/>
          </a:solidFill>
          <a:ln xmlns:a="http://schemas.openxmlformats.org/drawingml/2006/main" w="9525">
            <a:solidFill>
              <a:srgbClr val="4A475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ACAF3C-FF10-440D-B6CE-DE8A6B059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00300"/>
            <a:ext cx="32766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5172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E5162A-918E-491C-AB23-9D4A5C21E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24150"/>
            <a:ext cx="281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CFCAD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CFCAD3"/>
                </a:solidFill>
                <a:latin typeface="Noto Sans Thai"/>
                <a:ea typeface="Noto Sans Thai"/>
                <a:cs typeface="Noto Sans Thai"/>
              </a:rPr>
              <a:t>ต้องการให้ทีมใช้งานเป็น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30CAF5-4C43-4055-9B2C-C8649351B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813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E9517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1">
                <a:solidFill>
                  <a:srgbClr val="E95172"/>
                </a:solidFill>
                <a:latin typeface="Noto Sans Thai"/>
                <a:ea typeface="Noto Sans Thai"/>
                <a:cs typeface="Noto Sans Thai"/>
              </a:rPr>
              <a:t>AI Training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8E1DB6-37B4-49EC-8822-9612925CA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91A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91A8"/>
                </a:solidFill>
                <a:latin typeface="Noto Sans Thai"/>
                <a:ea typeface="Noto Sans Thai"/>
                <a:cs typeface="Noto Sans Thai"/>
              </a:rPr>
              <a:t>ข้อเสนอเริ่มต้นสำหรับ SME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D9966F-4FF3-422D-ACA9-73EFC572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AI Workflow Starter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B62050-6706-46A1-B401-AC49B31D4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D2CDD5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D2CDD5"/>
                </a:solidFill>
                <a:latin typeface="Noto Sans Thai"/>
                <a:ea typeface="Noto Sans Thai"/>
                <a:cs typeface="Noto Sans Thai"/>
              </a:rPr>
              <a:t>เริ่มต้น 9,999 บาท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EE95E2-A524-4168-A440-EBBE4BE4C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AAA5A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AAA5AF"/>
                </a:solidFill>
                <a:latin typeface="Noto Sans Thai"/>
                <a:ea typeface="Noto Sans Thai"/>
                <a:cs typeface="Noto Sans Thai"/>
              </a:rPr>
              <a:t>สำหรับ SME ที่ต้องการเห็นภาพก่อนลงทุนระบบเต็มรูปแบบ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B1E405-FA52-4CCA-AF54-A83323E86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76750"/>
            <a:ext cx="4743450" cy="118110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95172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4FD3E2-E0E6-4607-817C-54AFD9390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705350"/>
            <a:ext cx="413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นัด Workflow Assessment 30 นาที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C28AC7-018B-47E4-8137-94DEFAD10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162550"/>
            <a:ext cx="413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apinan@gracer.co.th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2453A7-0D41-4BBA-8DE5-EC6D0564E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962650"/>
            <a:ext cx="474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D0CBD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D0CBD3"/>
                </a:solidFill>
                <a:latin typeface="Noto Sans Thai"/>
                <a:ea typeface="Noto Sans Thai"/>
                <a:cs typeface="Noto Sans Thai"/>
              </a:rPr>
              <a:t>เริ่มจากหนึ่งงาน วัดผลจริง แล้วค่อยขยาย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06F88C-F599-42F7-B0CC-766B8BC94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B6B1BC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B6B1BC"/>
                </a:solidFill>
                <a:latin typeface="Noto Sans Thai"/>
                <a:ea typeface="Noto Sans Thai"/>
                <a:cs typeface="Noto Sans Tha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925357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2026-09-13T15:50:41.1720000Z</dcterms:created>
  <dcterms:modified xsi:type="dcterms:W3CDTF">2026-09-13T15:50:41.1720000Z</dcterms:modified>
</coreProperties>
</file>