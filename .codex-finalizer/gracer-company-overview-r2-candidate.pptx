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908646ece74b56" /><Relationship Type="http://schemas.openxmlformats.org/officeDocument/2006/relationships/extended-properties" Target="/docProps/app.xml" Id="R444dcbdd9ef34e22" /><Relationship Type="http://schemas.openxmlformats.org/officeDocument/2006/relationships/officeDocument" Target="/ppt/presentation.xml" Id="R43ccd0b6c3ea46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f9fb4eeac04c26"/>
  </p:sldMasterIdLst>
  <p:notesMasterIdLst>
    <p:notesMasterId xmlns:r="http://schemas.openxmlformats.org/officeDocument/2006/relationships" r:id="R48b87933affb40dc"/>
  </p:notesMasterIdLst>
  <p:sldIdLst>
    <p:sldId xmlns:r="http://schemas.openxmlformats.org/officeDocument/2006/relationships" id="256" r:id="R9b4921c4f8f64eaf"/>
    <p:sldId xmlns:r="http://schemas.openxmlformats.org/officeDocument/2006/relationships" id="257" r:id="R28623687c18a43b5"/>
    <p:sldId xmlns:r="http://schemas.openxmlformats.org/officeDocument/2006/relationships" id="258" r:id="R147ebfbb72074f31"/>
    <p:sldId xmlns:r="http://schemas.openxmlformats.org/officeDocument/2006/relationships" id="259" r:id="R616aae2e9f474408"/>
    <p:sldId xmlns:r="http://schemas.openxmlformats.org/officeDocument/2006/relationships" id="260" r:id="R4e0b4296da26432c"/>
    <p:sldId xmlns:r="http://schemas.openxmlformats.org/officeDocument/2006/relationships" id="261" r:id="R24cbaa566ad24c35"/>
    <p:sldId xmlns:r="http://schemas.openxmlformats.org/officeDocument/2006/relationships" id="262" r:id="R383ceb53e0ea489d"/>
    <p:sldId xmlns:r="http://schemas.openxmlformats.org/officeDocument/2006/relationships" id="263" r:id="Rf751ad19e702431a"/>
    <p:sldId xmlns:r="http://schemas.openxmlformats.org/officeDocument/2006/relationships" id="264" r:id="R32616d5803ef444b"/>
    <p:sldId xmlns:r="http://schemas.openxmlformats.org/officeDocument/2006/relationships" id="265" r:id="R6a97becf297741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b22cc1ae7e4495" /><Relationship Type="http://schemas.openxmlformats.org/officeDocument/2006/relationships/slideMaster" Target="/ppt/slideMasters/slideMaster1.xml" Id="Rdcf9fb4eeac04c26" /><Relationship Type="http://schemas.openxmlformats.org/officeDocument/2006/relationships/notesMaster" Target="/ppt/notesMasters/notesMaster1.xml" Id="R48b87933affb40dc" /><Relationship Type="http://schemas.openxmlformats.org/officeDocument/2006/relationships/presProps" Target="/ppt/presProps.xml" Id="R5c1ea56d71934b05" /><Relationship Type="http://schemas.openxmlformats.org/officeDocument/2006/relationships/tableStyles" Target="/ppt/tableStyles.xml" Id="Re035c78bce054bb1" /><Relationship Type="http://schemas.openxmlformats.org/officeDocument/2006/relationships/slide" Target="/ppt/slides/slide1.xml" Id="R9b4921c4f8f64eaf" /><Relationship Type="http://schemas.openxmlformats.org/officeDocument/2006/relationships/slide" Target="/ppt/slides/slide2.xml" Id="R28623687c18a43b5" /><Relationship Type="http://schemas.openxmlformats.org/officeDocument/2006/relationships/slide" Target="/ppt/slides/slide3.xml" Id="R147ebfbb72074f31" /><Relationship Type="http://schemas.openxmlformats.org/officeDocument/2006/relationships/slide" Target="/ppt/slides/slide4.xml" Id="R616aae2e9f474408" /><Relationship Type="http://schemas.openxmlformats.org/officeDocument/2006/relationships/slide" Target="/ppt/slides/slide5.xml" Id="R4e0b4296da26432c" /><Relationship Type="http://schemas.openxmlformats.org/officeDocument/2006/relationships/slide" Target="/ppt/slides/slide6.xml" Id="R24cbaa566ad24c35" /><Relationship Type="http://schemas.openxmlformats.org/officeDocument/2006/relationships/slide" Target="/ppt/slides/slide7.xml" Id="R383ceb53e0ea489d" /><Relationship Type="http://schemas.openxmlformats.org/officeDocument/2006/relationships/slide" Target="/ppt/slides/slide8.xml" Id="Rf751ad19e702431a" /><Relationship Type="http://schemas.openxmlformats.org/officeDocument/2006/relationships/slide" Target="/ppt/slides/slide9.xml" Id="R32616d5803ef444b" /><Relationship Type="http://schemas.openxmlformats.org/officeDocument/2006/relationships/slide" Target="/ppt/slides/slide10.xml" Id="R6a97becf297741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e1fef8fd274d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6c279fdbde4f09" /><Relationship Type="http://schemas.openxmlformats.org/officeDocument/2006/relationships/notesMaster" Target="/ppt/notesMasters/notesMaster1.xml" Id="Rbf86494cdd5d45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bef19c26fd4cf5" /><Relationship Type="http://schemas.openxmlformats.org/officeDocument/2006/relationships/notesMaster" Target="/ppt/notesMasters/notesMaster1.xml" Id="Rfdd189dcd9ef4e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93e967b6444bbc" /><Relationship Type="http://schemas.openxmlformats.org/officeDocument/2006/relationships/notesMaster" Target="/ppt/notesMasters/notesMaster1.xml" Id="R59c4e5f035c348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ee45cb9cd74504" /><Relationship Type="http://schemas.openxmlformats.org/officeDocument/2006/relationships/notesMaster" Target="/ppt/notesMasters/notesMaster1.xml" Id="R09a293810ff94f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00e98d62c94d6d" /><Relationship Type="http://schemas.openxmlformats.org/officeDocument/2006/relationships/notesMaster" Target="/ppt/notesMasters/notesMaster1.xml" Id="R46383a7765934d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b58aeddc504a6d" /><Relationship Type="http://schemas.openxmlformats.org/officeDocument/2006/relationships/notesMaster" Target="/ppt/notesMasters/notesMaster1.xml" Id="Rd5230559a7f84d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cfcf85ec2541ee" /><Relationship Type="http://schemas.openxmlformats.org/officeDocument/2006/relationships/notesMaster" Target="/ppt/notesMasters/notesMaster1.xml" Id="R4270f97675ba48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6a6e5fb9d74eda" /><Relationship Type="http://schemas.openxmlformats.org/officeDocument/2006/relationships/notesMaster" Target="/ppt/notesMasters/notesMaster1.xml" Id="R1973106ab8ec42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f800bdc9d948ce" /><Relationship Type="http://schemas.openxmlformats.org/officeDocument/2006/relationships/notesMaster" Target="/ppt/notesMasters/notesMaster1.xml" Id="R88dac1506cb54c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036f5cfcec44f6" /><Relationship Type="http://schemas.openxmlformats.org/officeDocument/2006/relationships/notesMaster" Target="/ppt/notesMasters/notesMaster1.xml" Id="Rf71b7be5c56247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เปิดด้วยภาพรวมว่า Gracer AI ช่วยองค์กรตั้งแต่การนำ AI ไปใช้จริง การกำกับดูแล ไปจนถึงการสร้างความพร้อมของทีม</a:t>
            </a:r>
          </a:p>
          <a:p xmlns:a="http://schemas.openxmlformats.org/drawingml/2006/main">
            <a:r>
              <a:t>แหล่งข้อมูล: PROJECT_CONTEXT.md และ src/translations/th.ts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อธิบายว่า Gracer AI ไม่ได้มีเพียงผลิตภัณฑ์เดียว แต่มีทั้งแพลตฟอร์ม บริการ ระบบควบคุม และการพัฒนาคนที่ทำงานร่วมกัน</a:t>
            </a:r>
          </a:p>
          <a:p xmlns:a="http://schemas.openxmlformats.org/drawingml/2006/main">
            <a:r>
              <a:t>แหล่งข้อมูล: src/components/LandingPage.tsx และ src/data/productDetails.ts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ใช้หน้านี้เป็นแผนที่ของเรื่องที่จะเล่าต่อ จากนั้นเจาะ AI Transformation ซึ่งเป็นจุดเริ่มต้นที่ลูกค้าเห็นผลลัพธ์ได้เร็วที่สุด</a:t>
            </a:r>
          </a:p>
          <a:p xmlns:a="http://schemas.openxmlformats.org/drawingml/2006/main">
            <a:r>
              <a:t>แหล่งข้อมูล: src/translations/th.ts และ src/components/LandingPage.tsx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เจาะลึกเฉพาะ Pillar นี้ โดยย้ำว่าเริ่มจากปัญหาธุรกิจ วัด baseline และออกแบบ human approval ก่อนนำขึ้นใช้งานจริง</a:t>
            </a:r>
          </a:p>
          <a:p xmlns:a="http://schemas.openxmlformats.org/drawingml/2006/main">
            <a:r>
              <a:t>แหล่งข้อมูล: src/data/productDetails.ts: AI Integration และ AI Workflow Consulting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พูดเพียงชื่อและงานที่แต่ละโซลูชันช่วย ไม่ต้องไล่คุณสมบัติทั้งหมด เลือกยกตัวอย่างหนึ่งหรือสองตัวที่ตรงกับผู้ฟัง</a:t>
            </a:r>
          </a:p>
          <a:p xmlns:a="http://schemas.openxmlformats.org/drawingml/2006/main">
            <a:r>
              <a:t>แหล่งข้อมูล: src/components/LandingPage.tsx และ src/data/productDetails.ts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เข้าสู่เดโมงานเสนอราคา อธิบายสี่ขั้นให้เร็วและชี้ว่า interface สนทนาเป็นเพียงจุดรับคำขอ ส่วนคุณค่าจริงอยู่ที่ workflow หลังจากนั้น</a:t>
            </a:r>
          </a:p>
          <a:p xmlns:a="http://schemas.openxmlformats.org/drawingml/2006/main">
            <a:r>
              <a:t>แหล่งข้อมูล: DEMO_SCRIPT.md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เปิดเผยผลลัพธ์ ชี้ราคา ส่วนลด สต็อก แหล่งข้อมูล และ human approval จากนั้นอธิบายว่าตัวเลขเวลานี้เป็นตัวอย่างที่ต้องวัดกับงานจริง</a:t>
            </a:r>
          </a:p>
          <a:p xmlns:a="http://schemas.openxmlformats.org/drawingml/2006/main">
            <a:r>
              <a:t>แหล่งข้อมูล: DEMO_SCRIPT.md และ SALES_PROPOSAL.md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พูดถึงผลิตภัณฑ์ทั้งสามแบบสั้น โดยเน้นผลทางธุรกิจมากกว่าศัพท์โครงสร้างพื้นฐาน และไม่รับรองว่าไม่มีความเสี่ยงเลย</a:t>
            </a:r>
          </a:p>
          <a:p xmlns:a="http://schemas.openxmlformats.org/drawingml/2006/main">
            <a:r>
              <a:t>แหล่งข้อมูล: src/data/productDetails.ts และ SALES_PROPOSAL.md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พูดถึงหลักสูตรทั้งสามให้ผู้ชมรู้ว่ามีทางเลือกตั้งแต่ระดับเริ่มต้นถึงการสร้าง workflow ขั้นสูง แต่ไม่ต้องลงรายละเอียดหลักสูตรในเด็คนี้</a:t>
            </a:r>
          </a:p>
          <a:p xmlns:a="http://schemas.openxmlformats.org/drawingml/2006/main">
            <a:r>
              <a:t>แหล่งข้อมูล: src/components/LandingPage.tsx และ src/data/productDetails.ts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ปิดด้วยสามทางเลือกตาม Pillar แล้วเสนอ Workflow Assessment หากลูกค้าต้องการเริ่มจากงานจริง หนึ่ง Pilot ใช้เวลา 2–3 สัปดาห์ ราคา 49,000 บาท</a:t>
            </a:r>
          </a:p>
          <a:p xmlns:a="http://schemas.openxmlformats.org/drawingml/2006/main">
            <a:r>
              <a:t>แหล่งข้อมูล: EXECUTION_PLAN.md และ SALES_PROPOSAL.md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1b5e49fe0847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f04404963e44ab" /><Relationship Type="http://schemas.openxmlformats.org/officeDocument/2006/relationships/slideLayout" Target="/ppt/slideLayouts/slideLayout1.xml" Id="R5e92634f2a5641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92634f2a5641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932ee16d94cac" /><Relationship Type="http://schemas.openxmlformats.org/officeDocument/2006/relationships/image" Target="/ppt/media/image.png" Id="Re3e3c19395214ad4" /><Relationship Type="http://schemas.openxmlformats.org/officeDocument/2006/relationships/image" Target="/ppt/media/image2.png" Id="R2ec496b29f5d4fcf" /><Relationship Type="http://schemas.openxmlformats.org/officeDocument/2006/relationships/notesSlide" Target="/ppt/notesSlides/notesSlide1.xml" Id="R05fd68f410ed44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04d27a65d4165" /><Relationship Type="http://schemas.openxmlformats.org/officeDocument/2006/relationships/image" Target="/ppt/media/image3.png" Id="R8b661154c26a418d" /><Relationship Type="http://schemas.openxmlformats.org/officeDocument/2006/relationships/image" Target="/ppt/media/image4.png" Id="R9be8ca87dcc24c32" /><Relationship Type="http://schemas.openxmlformats.org/officeDocument/2006/relationships/notesSlide" Target="/ppt/notesSlides/notesSlide2.xml" Id="Rd26f24126ad440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03fb2b6274e78" /><Relationship Type="http://schemas.openxmlformats.org/officeDocument/2006/relationships/image" Target="/ppt/media/image5.png" Id="Ra037c473c892416e" /><Relationship Type="http://schemas.openxmlformats.org/officeDocument/2006/relationships/notesSlide" Target="/ppt/notesSlides/notesSlide3.xml" Id="R182e561f601546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7f13598e94149" /><Relationship Type="http://schemas.openxmlformats.org/officeDocument/2006/relationships/image" Target="/ppt/media/image6.png" Id="Rf0d40f669d534c44" /><Relationship Type="http://schemas.openxmlformats.org/officeDocument/2006/relationships/image" Target="/ppt/media/image7.png" Id="R85801fd245364668" /><Relationship Type="http://schemas.openxmlformats.org/officeDocument/2006/relationships/notesSlide" Target="/ppt/notesSlides/notesSlide4.xml" Id="R0c0e2baec46949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4bde522974727" /><Relationship Type="http://schemas.openxmlformats.org/officeDocument/2006/relationships/image" Target="/ppt/media/image8.png" Id="R8cdbe26f048f4745" /><Relationship Type="http://schemas.openxmlformats.org/officeDocument/2006/relationships/image" Target="/ppt/media/image9.png" Id="R25e519b39609406e" /><Relationship Type="http://schemas.openxmlformats.org/officeDocument/2006/relationships/image" Target="/ppt/media/image10.png" Id="Ra1bd9760404649a8" /><Relationship Type="http://schemas.openxmlformats.org/officeDocument/2006/relationships/image" Target="/ppt/media/image11.png" Id="R009a53656f4d4cb0" /><Relationship Type="http://schemas.openxmlformats.org/officeDocument/2006/relationships/image" Target="/ppt/media/image12.png" Id="R373a12fb88a847bf" /><Relationship Type="http://schemas.openxmlformats.org/officeDocument/2006/relationships/image" Target="/ppt/media/image13.png" Id="R2a61527d266c4d83" /><Relationship Type="http://schemas.openxmlformats.org/officeDocument/2006/relationships/image" Target="/ppt/media/image14.png" Id="Rc974a54bb23b437a" /><Relationship Type="http://schemas.openxmlformats.org/officeDocument/2006/relationships/image" Target="/ppt/media/image15.png" Id="R2586d6d6c4dd40b2" /><Relationship Type="http://schemas.openxmlformats.org/officeDocument/2006/relationships/image" Target="/ppt/media/image16.png" Id="Rc5d8e8d3af5546b8" /><Relationship Type="http://schemas.openxmlformats.org/officeDocument/2006/relationships/notesSlide" Target="/ppt/notesSlides/notesSlide5.xml" Id="R6cb2361d894444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6ce114595454a" /><Relationship Type="http://schemas.openxmlformats.org/officeDocument/2006/relationships/image" Target="/ppt/media/image17.png" Id="R155d84eae8454be8" /><Relationship Type="http://schemas.openxmlformats.org/officeDocument/2006/relationships/notesSlide" Target="/ppt/notesSlides/notesSlide6.xml" Id="R37e237b83bfb4c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156712ac94f25" /><Relationship Type="http://schemas.openxmlformats.org/officeDocument/2006/relationships/image" Target="/ppt/media/image18.png" Id="R9f3501b1028e45b6" /><Relationship Type="http://schemas.openxmlformats.org/officeDocument/2006/relationships/notesSlide" Target="/ppt/notesSlides/notesSlide7.xml" Id="R0b54c0ea2b6b48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5118aeca14ebe" /><Relationship Type="http://schemas.openxmlformats.org/officeDocument/2006/relationships/image" Target="/ppt/media/image19.png" Id="R2acc1b3c559b426b" /><Relationship Type="http://schemas.openxmlformats.org/officeDocument/2006/relationships/image" Target="/ppt/media/image20.png" Id="R1a1fc36d59e84de0" /><Relationship Type="http://schemas.openxmlformats.org/officeDocument/2006/relationships/notesSlide" Target="/ppt/notesSlides/notesSlide8.xml" Id="Rcda2fc0e201b40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208a912c24a75" /><Relationship Type="http://schemas.openxmlformats.org/officeDocument/2006/relationships/image" Target="/ppt/media/image21.png" Id="R5dd08df67fbf48ed" /><Relationship Type="http://schemas.openxmlformats.org/officeDocument/2006/relationships/image" Target="/ppt/media/image22.png" Id="Rec4dcdd28cdb47cf" /><Relationship Type="http://schemas.openxmlformats.org/officeDocument/2006/relationships/notesSlide" Target="/ppt/notesSlides/notesSlide9.xml" Id="Rb7557d0b3c5e46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868db3cb140ab" /><Relationship Type="http://schemas.openxmlformats.org/officeDocument/2006/relationships/image" Target="/ppt/media/image23.png" Id="R4606ed24aa1f47dd" /><Relationship Type="http://schemas.openxmlformats.org/officeDocument/2006/relationships/notesSlide" Target="/ppt/notesSlides/notesSlide10.xml" Id="R6e46581e4dff4e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3c19395214ad4"/>
          <a:srcRect xmlns:a="http://schemas.openxmlformats.org/drawingml/2006/main" l="20833" t="0" r="208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BCF68-044D-4AA6-BD0D-FCECCDDE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496b29f5d4fcf"/>
          <a:stretch xmlns:a="http://schemas.openxmlformats.org/drawingml/2006/main"/>
        </p:blipFill>
        <p:spPr>
          <a:xfrm xmlns:a="http://schemas.openxmlformats.org/drawingml/2006/main">
            <a:off x="685800" y="514350"/>
            <a:ext cx="1619250" cy="3238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B2E44-8AD2-48FF-945C-0415A4B3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61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42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ทำให้ AI ทำงานได้จริง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2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42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สำหรับธุรกิจของคุณ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11B61-A902-4FD9-BE11-08AEC184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ระบบที่สร้างผลลัพธ์ การควบคุมที่เหมาะสม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และทีมที่พร้อมใช้งาน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34096-ED44-417B-8828-80109AD6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373380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6CDF5-6716-4482-9D49-4A54D565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05425"/>
            <a:ext cx="3314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SME CONNECT RAYONG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A5CCC-EB6D-46E7-8041-2A81AA0C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14 กันยายน 2026</a:t>
            </a:r>
          </a:p>
        </p:txBody>
      </p:sp>
    </p:spTree>
    <p:extLst>
      <p:ext uri="{BB962C8B-B14F-4D97-AF65-F5344CB8AC3E}">
        <p14:creationId xmlns:p14="http://schemas.microsoft.com/office/powerpoint/2010/main" val="12379878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61154c26a418d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310E7-5129-4F0B-8E47-45AF0E16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Gracer AI ในภาพเดียว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11FF7-EFEB-4267-ACE2-D9D325AD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AI Partner ที่เชื่อมข้อมูล ระบบ และคน ให้กลายเป็นการทำงานที่วัดผลได้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8ca87dcc24c32"/>
          <a:stretch xmlns:a="http://schemas.openxmlformats.org/drawingml/2006/main"/>
        </p:blipFill>
        <p:spPr>
          <a:xfrm xmlns:a="http://schemas.openxmlformats.org/drawingml/2006/main">
            <a:off x="900113" y="2266950"/>
            <a:ext cx="4714875" cy="3143250"/>
          </a:xfrm>
          <a:prstGeom xmlns:a="http://schemas.openxmlformats.org/drawingml/2006/main" prst="roundRect">
            <a:avLst>
              <a:gd name="adj" fmla="val 606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E838A-0CAE-473C-84ED-CB56E385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4B50B9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>
                <a:solidFill>
                  <a:srgbClr val="4B50B9"/>
                </a:solidFill>
                <a:latin typeface="Noto Sans Thai"/>
                <a:ea typeface="Noto Sans Thai"/>
                <a:cs typeface="Noto Sans Thai"/>
              </a:rPr>
              <a:t>Gracer AI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76E02-554A-4E65-A97A-801BBAEB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0510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 b="0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รากฐานสำหรับ AI Assistant แอปพลิเคชันองค์กร และโมเดลที่ใช้งานได้ทั้ง local หรือ hybrid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785DC-E73E-474D-8E08-1BC53DF0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57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2D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EB579-02F3-4455-8577-DABD7293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F3260-1AB4-4E0A-9DE8-AC5041EE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48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นำไปใช้กับงานจริง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EC55B-AA34-4370-9D04-F8363FDA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338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เชื่อม AI เข้ากับข้อมูลและระบบที่องค์กรมีอยู่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3CEA4-6C15-42F9-8F14-F41D2C32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62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FAE03-0772-40AA-9DBF-77DA6382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101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273C2-710B-4C3D-97CE-C97A14C2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52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ควบคุมได้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1005C-B865-4B43-9BEC-C15FA050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387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กำหนดสิทธิ์ นโยบาย และจุดอนุมัติตามความเสี่ยง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5BBBC-17F0-4611-B5D6-0E607D04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67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17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33D81-B244-4567-BB33-F0A06B99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149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90CDF-89FA-4436-85AE-0077FBE1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57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ทีมใช้งานต่อได้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9C986-028F-4F6D-9595-DBF270C4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5435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พัฒนาทักษะและวิธีทำงานให้เกิดผลต่อเนื่อง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D2F6C-53D0-4AC2-B556-366738BA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284974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7c473c892416e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16608-8C98-48B5-ACA2-5CC6292D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3 เสาหลักของ Gracer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5D7B7-47E2-4175-8A12-5A783DF5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แต่ละ Pillar แก้ปัญหาคนละส่วน แต่ทำงานร่วมกันในภาพเดียว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7F5BC-8AA6-43C8-B23D-69E5F8F5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76600" cy="3238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88FB5-8263-47E9-8BFD-59CDA5A5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76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2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AA02C-0A40-4080-9ECC-339D4DEE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rPr>
              <a:t>01 / 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81CD2-08E5-470D-8CB7-FBB35EFF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74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7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Transformation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6C14B-DAF6-4441-B2A9-C429064F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CB090-0509-4D82-8EAA-48915249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2743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เปลี่ยนระบบงานเดิม โดยใช้ AI เข้ามาช่วยสร้างผลลัพธ์ทางธุรกิจ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2B026-9547-4A66-852F-25262767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3276600" cy="3238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DC61F-FEFC-4FE2-B68D-DB6CDC13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3276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B08C2-6E05-4D67-BF19-04DE3DA1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8C8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18C8B"/>
                </a:solidFill>
                <a:latin typeface="Noto Sans Thai"/>
                <a:ea typeface="Noto Sans Thai"/>
                <a:cs typeface="Noto Sans Thai"/>
              </a:rPr>
              <a:t>02 / 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FF7D4-BCEF-4D1A-B367-BC9D0A99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274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Governance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EBF55-E274-4054-9771-8FEC9AA8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2430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851401-A24B-4435-9FB9-11C2DCB5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29100"/>
            <a:ext cx="2743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ควบคุมการใช้ AI ด้วยนโยบาย สิทธิ์ ขอบเขตข้อมูล และหลักฐานที่ตรวจสอบได้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81051-7F6C-4F79-94FC-96684652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276600" cy="3238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611CE5-5F7B-44EA-AE00-81706F9C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276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517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B4A39-207A-408A-9ED9-8B3093A5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03 / 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D44297-E3FC-4841-B862-C5D2B2C7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24200"/>
            <a:ext cx="274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Training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FFAC84-8632-4B22-B6CC-84FB4048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2430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FCE2F-D69D-4F9A-A65F-92459E70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743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พัฒนาคนให้เลือกใช้ AI ได้เหมาะกับงาน และต่อยอดเป็นวิธีทำงานขององค์กร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97B12-730E-4D7E-854B-3991F522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4394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7485BF-2387-42F7-95A5-3E165577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05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B50B9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4B50B9"/>
                </a:solidFill>
                <a:latin typeface="Noto Sans Thai"/>
                <a:ea typeface="Noto Sans Thai"/>
                <a:cs typeface="Noto Sans Thai"/>
              </a:rPr>
              <a:t>Gracer AI LLM และ Platform เป็นรากฐานที่รองรับโซลูชันในทุก Pillar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E439E2-5539-4BED-8BF8-5B87B086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240663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40f669d534c44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7CADE-AC2D-41D0-BE1B-954A0333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7A012-1AA5-4E55-BAEA-7A12EF30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เปลี่ยนงานที่กระจัดกระจายให้เป็นระบบที่ AI และคนทำงานร่วมกันได้จริง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01fd245364668"/>
          <a:srcRect xmlns:a="http://schemas.openxmlformats.org/drawingml/2006/main" l="7790" t="0" r="77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057400"/>
            <a:ext cx="5314950" cy="3543300"/>
          </a:xfrm>
          <a:prstGeom xmlns:a="http://schemas.openxmlformats.org/drawingml/2006/main" prst="roundRect">
            <a:avLst>
              <a:gd name="adj" fmla="val 752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E561E-9C11-4EE2-AD22-D645E6A2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DE414-CDE4-401F-A81C-A8C47760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เลือกงานที่คุ้มค่า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5CCE6-A202-4B26-8157-46E3C638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เริ่มจากงานที่เกิดซ้ำ ใช้เวลามาก และวัดผลก่อนกับหลังได้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F0CF7-7268-47C9-ADDA-7D9EAE49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8A95D-8A2F-42E5-8374-35997769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B58FD-268F-41EB-BFA2-86F3094B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เชื่อมข้อมูลและระบบเดิม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F6832-8F8E-4BC9-90A4-FF3BD5E6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เว็บไซต์ แอป LINE เอกสาร CRM, ERP และฐานข้อมูล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E81B9-AA32-4930-8C27-E8C2ECB9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080DA-EC52-4BFA-BA00-7127F7E7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DB8DD-25AA-4FCE-B269-0FEB4412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วางจุดตัดสินใจของคน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6516D-82B1-4F76-A5A4-A9E40DF2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ผลลัพธ์สำคัญต้องผ่านการตรวจและอนุมัติก่อนนำไปใช้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6E4386-79CA-4F6D-8E93-FD09D97D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42E1F-FBEB-4375-9615-399A64F0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CB5654-9EC0-4660-B492-D2B9B5EB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00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นำขึ้นใช้งานและปรับต่อ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663FA-7D34-4BD1-B433-D9C32E92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ทดสอบคุณภาพ ความเร็ว ต้นทุน และ fallback ก่อนขยาย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864CC-7EFF-4B33-8D44-C13BE348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10250"/>
            <a:ext cx="53149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A7D7D2-DC58-46DF-9524-EDF6B79D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905500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5E3EB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5E3EB5"/>
                </a:solidFill>
                <a:latin typeface="Noto Sans Thai"/>
                <a:ea typeface="Noto Sans Thai"/>
                <a:cs typeface="Noto Sans Thai"/>
              </a:rPr>
              <a:t>AI Integration และ AI Workflow Consulting เป็นจุดเริ่มต้นหลัก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CE11FE-EE39-4A9A-9DDA-C3ED17AC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653344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be26f048f4745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B151C-ADCC-49E7-A004-FBAAC60D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โซลูชันในกลุ่ม AI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1772A-EBCC-4A0A-84B3-3BD04F00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ผลิตภัณฑ์แต่ละตัวแก้ workflow ต่างกัน โดยใช้แนวทางการเชื่อมข้อมูลและการวัดผลร่วมกัน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4A436-9F2B-4B9B-A88E-3828CB74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47650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519b39609406e"/>
          <a:stretch xmlns:a="http://schemas.openxmlformats.org/drawingml/2006/main"/>
        </p:blipFill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5ADEE-A4FC-429B-BA0E-E1BE7141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193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6E7A9-9F4A-4BA6-8885-5C56FA8F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เชื่อม AI กับระบบเดิม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99E40-4990-468A-A087-E76C29CC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247650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d9760404649a8"/>
          <a:stretch xmlns:a="http://schemas.openxmlformats.org/drawingml/2006/main"/>
        </p:blipFill>
        <p:spPr>
          <a:xfrm xmlns:a="http://schemas.openxmlformats.org/drawingml/2006/main">
            <a:off x="3581400" y="2400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5DC66-9F2F-4651-918F-FE55F84E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193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Workflow Consulting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6E6AB-942B-421C-9FCA-4BB0AF78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ออกแบบ workflow ที่วัดผลได้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89D0F-DD38-4C09-A8D0-2A85C994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247650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a53656f4d4cb0"/>
          <a:stretch xmlns:a="http://schemas.openxmlformats.org/drawingml/2006/main"/>
        </p:blipFill>
        <p:spPr>
          <a:xfrm xmlns:a="http://schemas.openxmlformats.org/drawingml/2006/main">
            <a:off x="6286500" y="2400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F26F7-E595-4BBA-8590-1EFDF218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193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ERP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54CFF-CAE0-44F2-AC82-03E9025A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ระบบหลังบ้านธุรกิจ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A3AB9A-30A5-42FA-8867-651519B8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09800"/>
            <a:ext cx="247650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a12fb88a847bf"/>
          <a:stretch xmlns:a="http://schemas.openxmlformats.org/drawingml/2006/main"/>
        </p:blipFill>
        <p:spPr>
          <a:xfrm xmlns:a="http://schemas.openxmlformats.org/drawingml/2006/main">
            <a:off x="8991600" y="2400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CD60E-10CD-4403-833E-C4C7637F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193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Bull Docs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67047-C42A-4B86-B1CF-8BA9C0B2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051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เอกสารบัญชีธุรกิจไทย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C2EBA5-A3B1-4709-B85A-DD5BF74A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47650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1527d266c4d83"/>
          <a:stretch xmlns:a="http://schemas.openxmlformats.org/drawingml/2006/main"/>
        </p:blipFill>
        <p:spPr>
          <a:xfrm xmlns:a="http://schemas.openxmlformats.org/drawingml/2006/main">
            <a:off x="876300" y="41910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DCD346-D988-4569-BC6A-3D6BF9B1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100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beOK BOQ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18E213-7923-4AD6-9940-2B44C44F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ถอดแบบและประมาณราคา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A3A31D-44DA-4EB6-B0DB-6CA46AC6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00500"/>
            <a:ext cx="247650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4a54bb23b437a"/>
          <a:stretch xmlns:a="http://schemas.openxmlformats.org/drawingml/2006/main"/>
        </p:blipFill>
        <p:spPr>
          <a:xfrm xmlns:a="http://schemas.openxmlformats.org/drawingml/2006/main">
            <a:off x="3581400" y="41910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0570CD-5E1C-46E8-8027-20ED3423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00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Food Cost &amp; Profit DNA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B95CF2-1BCA-4D9F-BC27-63320EC3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958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วิเคราะห์กำไรเมนูอาหาร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EEDF24-99DD-4E81-86F3-5BA60B8C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47650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6d6d6c4dd40b2"/>
          <a:stretch xmlns:a="http://schemas.openxmlformats.org/drawingml/2006/main"/>
        </p:blipFill>
        <p:spPr>
          <a:xfrm xmlns:a="http://schemas.openxmlformats.org/drawingml/2006/main">
            <a:off x="6286500" y="41910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1FF477-103E-4D94-AE76-B26FD87D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100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HomePlace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071337-6D18-4051-8C04-7523C38F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ตลาดชุมชนผ่าน 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40476C-B7A5-4F94-9252-119FC6FF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00500"/>
            <a:ext cx="247650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8e8d3af5546b8"/>
          <a:stretch xmlns:a="http://schemas.openxmlformats.org/drawingml/2006/main"/>
        </p:blipFill>
        <p:spPr>
          <a:xfrm xmlns:a="http://schemas.openxmlformats.org/drawingml/2006/main">
            <a:off x="8991600" y="41910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FE2C97-5A68-4FCF-8416-882FAFDB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100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Gvents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D80A93-3AC8-4CF1-B227-B93DBD86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958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แพลตฟอร์มจัดการอีเวนต์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FD904C-60EE-4C80-BC47-A39C3B44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E3EB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5E3EB5"/>
                </a:solidFill>
                <a:latin typeface="Noto Sans Thai"/>
                <a:ea typeface="Noto Sans Thai"/>
                <a:cs typeface="Noto Sans Thai"/>
              </a:rPr>
              <a:t>รายละเอียดเชิงลึกเลือกเล่าตามอุตสาหกรรมและปัญหาของผู้ฟัง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B2A158-E9C1-4288-A138-DD1C5B82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000649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18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2C88FC-BD7A-40CF-B08C-29AF5F2D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4325"/>
            <a:ext cx="14859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5d84eae8454be8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EE044-62F8-4829-BF9D-F3B44228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ตัวอย่าง AI Workflow สำหรับงานเสนอราคา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C862D-F496-48A5-85B1-CFFDAE91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D4CFD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4CFD8"/>
                </a:solidFill>
                <a:latin typeface="Noto Sans Thai"/>
                <a:ea typeface="Noto Sans Thai"/>
                <a:cs typeface="Noto Sans Thai"/>
              </a:rPr>
              <a:t>จากข้อความลูกค้าหนึ่งบรรทัด ถึงเอกสารฉบับร่างที่พร้อมตรวจ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8DD7D-B0CC-4AE7-B123-F38D3E01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857250"/>
          </a:xfrm>
          <a:prstGeom xmlns:a="http://schemas.openxmlformats.org/drawingml/2006/main" prst="roundRect">
            <a:avLst>
              <a:gd name="adj" fmla="val 24444"/>
            </a:avLst>
          </a:prstGeom>
          <a:solidFill xmlns:a="http://schemas.openxmlformats.org/drawingml/2006/main">
            <a:srgbClr val="2C2B30"/>
          </a:solidFill>
          <a:ln xmlns:a="http://schemas.openxmlformats.org/drawingml/2006/main" w="9525">
            <a:solidFill>
              <a:srgbClr val="4A47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FF16D-BA9A-477F-89BD-EF8F2439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“ขอราคา Pump รุ่น XP-200 จำนวน 50 ตัว ส่งระยอง ขอภายในวันนี้”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69873-1C26-4DC8-A2DC-D6D2F462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148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5E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8DF2D-2042-4334-9F4D-D4CD4B1B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879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C1FA0-9697-4EA2-BEBD-6DF51CBA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909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5FB5D-EEE1-4E5D-B0D1-A369E2AA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เข้าใจคำขอ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BD374-82AF-4B0E-B380-EDB23120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rPr>
              <a:t>สินค้า จำนวน ปลายทาง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47AD2-6161-4676-A287-CA55CAC4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879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8B224-4E84-49E3-BB4B-AD007375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909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5E01F-8592-4414-BD88-E321D014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101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ค้นข้อมูลภายใน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F625B-17A5-4270-B3E6-481CDB70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101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rPr>
              <a:t>ราคา สต็อก นโยบาย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29DDF-8CFD-4C18-8C4C-ADA0105E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879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0EAE5C-A62B-4EB5-925D-0409A0E1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909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D9AA4-A0A0-4B39-B560-4193534E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101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ใช้กฎธุรกิจ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802F1-1D6C-4BA0-8E1F-D060519E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101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rPr>
              <a:t>ส่วนลดและการจัดส่ง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B671A-24E3-4124-8142-9527C766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172"/>
          </a:solidFill>
          <a:ln xmlns:a="http://schemas.openxmlformats.org/drawingml/2006/main" w="9525">
            <a:solidFill>
              <a:srgbClr val="E951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4124BF-E61A-4C69-8D12-B8ECE1CE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909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9D6AE-7CC6-4D54-B1BB-D4B96CA1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101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สร้างฉบับร่าง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B2F99-4EB2-4D6C-904E-6992BF2C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101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rPr>
              <a:t>ใบเสนอราคาและข้อความตอบ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361B3A-15CC-440D-B5AB-723B2801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791200"/>
            <a:ext cx="58674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A273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708228-596C-4F3D-A038-24D42BDD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88645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91A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FF91A8"/>
                </a:solidFill>
                <a:latin typeface="Noto Sans Thai"/>
                <a:ea typeface="Noto Sans Thai"/>
                <a:cs typeface="Noto Sans Thai"/>
              </a:rPr>
              <a:t>ทุกขั้นใช้ข้อมูลที่องค์กรอนุญาต และรอคนตรวจในจุดสำคัญ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A04EDC-A955-4FE2-9923-53296BE4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B6B1BC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B6B1BC"/>
                </a:solidFill>
                <a:latin typeface="Noto Sans Thai"/>
                <a:ea typeface="Noto Sans Thai"/>
                <a:cs typeface="Noto Sans Tha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88877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501b1028e45b6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EF670-3E8A-41E7-974D-E5CF8510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ผลลัพธ์พร้อมให้พนักงานตรวจ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CADEE-0C05-42B9-8423-F79D1DE2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AI เตรียมใบเสนอราคาและข้อความตอบลูกค้า ส่วนคนยังอนุมัติก่อนส่ง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1CDAA-58F5-4060-A08B-D919D377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667500" cy="3448050"/>
          </a:xfrm>
          <a:prstGeom xmlns:a="http://schemas.openxmlformats.org/drawingml/2006/main" prst="roundRect">
            <a:avLst>
              <a:gd name="adj" fmla="val 6630"/>
            </a:avLst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C419F-6D83-499A-B6AB-861BF43D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ใบเสนอราคา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EF095-244F-4178-95B8-67302679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Eastern Industrial Supply Co., Ltd.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21BED-EFD8-46DE-A0F1-8066E85B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57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QT-2026-0914-001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FC2A7-0124-485A-9582-8F0C4159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CDBF2-6CFB-4274-92EF-4C7A98A2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Industrial Pump XP-200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4CD1A-9177-4B82-BE6C-58CAC45A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045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50 ตัว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D94A9-02EC-4852-B255-1E599650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67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ส่วนลดโครงการ 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39B6B-E58A-40C7-8568-75DE42D5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7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ยอดสุทธิรวม VAT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AEE437-25EC-48AA-90B9-45B8563E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62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920,467.50 บาท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E8F9E-C3EA-49B8-BB22-5FEE631E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43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ก่อน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000D2-DA77-4FD4-B20E-99AE89AE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479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2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เกือบ 1 วัน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720DD-FCC2-44AD-A3C9-C017BD1E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861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28D38-00A2-471B-BB61-C6B26BE6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90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หลัง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B5381C-8C6C-4150-A98B-421F8775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ตรวจประมาณ 3 นาที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4FAE9-8EA4-42A0-8ADD-99B27313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67300"/>
            <a:ext cx="3238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3D368-4117-4230-984F-90CF5825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19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พนักงานตรวจ แก้ไข และอนุมัติ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5119D5-A47C-4905-9155-A588E22D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ตัวเลขจากสถานการณ์ตัวอย่าง ผลจริงต้องวัดจาก workflow ของแต่ละบริษัท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919BB0-553D-477A-B853-2774B998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782439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c1b3c559b426b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02793-FBF5-469C-B626-7EE736C9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AFF37-7A21-4D7A-87A9-229269C8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การควบคุมช่วยให้องค์กรใช้ AI ได้ต่อเนื่อง โดยรู้ว่าใครใช้ข้อมูลอะไรและอนุมัติเมื่อใด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fc36d59e84de0"/>
          <a:srcRect xmlns:a="http://schemas.openxmlformats.org/drawingml/2006/main" l="94" t="0" r="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71700"/>
            <a:ext cx="5048250" cy="3371850"/>
          </a:xfrm>
          <a:prstGeom xmlns:a="http://schemas.openxmlformats.org/drawingml/2006/main" prst="roundRect">
            <a:avLst>
              <a:gd name="adj" fmla="val 791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AA565-DF86-468A-B072-83811251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3149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30C0B-9C00-49D3-A1D6-07F43678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118C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A895C-38BD-45D6-925C-A36512C9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622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8706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08706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1751F-898D-451D-B07E-A0ACBC4A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003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GeGi AI Control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46AFA-D391-4E7F-80A1-D464B0B9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241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กำหนดบทบาท เครื่องมือ โมเดล และ approval ของ AI 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7505E-452D-44DC-A352-578ABACD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53149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7C707-4BE5-437B-B163-275980EE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118C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82A40-7EDB-4589-AEED-76A0F75D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8706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08706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47A86-8906-46CA-B538-641998BD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671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Gateway &amp; Optimization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90CEE-9BA8-4389-AE85-603390C3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909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จัดเส้นทางหลายโมเดล พร้อมควบคุมคุณภาพ ความเร็ว และต้นทุน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56096-604B-4DB2-8064-1B903C37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3149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19624-4A22-4C13-A0BF-1C2CE72E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91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118C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5DC2DB-FA75-4ABD-AA8B-72D0FC1A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958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8706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08706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6D8092-B48D-4EDD-8597-A1ED52BB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339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RAG &amp; Sandbox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12034-DCB0-4979-A8F1-D7DDE67C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577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ให้ AI ใช้ความรู้องค์กรและเครื่องมือจริงในขอบเขตที่ตรวจสอบได้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6CAFE8-3246-4BC6-8FA0-3870A649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81650"/>
            <a:ext cx="53149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F2C94-14AE-443F-8A01-87A5729D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7340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เป้าหมายคือกำหนดขอบเขต ตรวจสอบได้ และลดความเสี่ยง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4EF304-8F39-4B6E-9D22-B6D28028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123279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08df67fbf48ed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7395F-22B7-4AE7-8E05-E434838A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6B854-7750-43AB-B250-2356AD12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ทีมต้องเข้าใจทั้งการใช้เครื่องมือ การออกแบบ workflow และขอบเขตข้อมูลที่เหมาะสม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dcdd28cdb47cf"/>
          <a:srcRect xmlns:a="http://schemas.openxmlformats.org/drawingml/2006/main" l="7710" t="0" r="77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114550"/>
            <a:ext cx="5010150" cy="3333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C890D-0029-4FB5-80FA-AD645CE9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9B1B1-B194-4CD9-BD5E-672A0B14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526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Basic AI for Business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6A710-7DBA-4FF1-8766-00F770E5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เริ่มใช้ AI กับงานประจำอย่างมีวิจารณญาณ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13B85-A9F8-4FC9-87BE-82DFA7F6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72324-7D8C-4409-BA8C-9694417C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37B39-4CAB-45AC-8E3B-A76738B8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76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Advanced AI Workflow Development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89B76-4E2A-42CB-BA4F-EFAD54EB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ออกแบบระบบที่เชื่อมข้อมูล เครื่องมือ และการตัดสินใจ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72CF8-E3BA-4481-BE0C-74AD7CCF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77D87-027C-40A5-A8AE-DAC713D2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94E82-851A-4BDB-9D93-CFDC34C8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10X AI Business Workshop for SMEs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E4A5A-FE6B-4B34-91A3-1849F153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006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สร้าง AI Co-Pilot จากสถานการณ์ธุรกิจจริง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7F6C3-35D4-4F2C-B324-01F44783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572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583F2E-45D2-4D42-B722-39E35092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48350"/>
            <a:ext cx="1036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Training ช่วยให้องค์กรไม่ต้องพึ่งคนเพียงไม่กี่คนในการขับเคลื่อน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27612C-6578-4BD3-BF5A-77B2E89C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56684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18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EF9DD9-66DB-45CD-8CD7-697B20B3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4325"/>
            <a:ext cx="14859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6ed24aa1f47dd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2648C-BA29-411F-B59B-10C87EFC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เริ่มจากงานที่สำคัญที่สุดของธุรกิจ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0FDEF-3DDB-4481-A19D-6204A2AB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D4CFD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4CFD8"/>
                </a:solidFill>
                <a:latin typeface="Noto Sans Thai"/>
                <a:ea typeface="Noto Sans Thai"/>
                <a:cs typeface="Noto Sans Thai"/>
              </a:rPr>
              <a:t>Gracer AI ช่วยเลือกจุดเริ่มต้นให้เหมาะกับปัญหา ความพร้อม และระดับการควบคุมที่ต้องการ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0CC33-7BD8-470D-82DA-FB66E765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27660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29282E"/>
          </a:solidFill>
          <a:ln xmlns:a="http://schemas.openxmlformats.org/drawingml/2006/main" w="9525">
            <a:solidFill>
              <a:srgbClr val="4A47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C1C6A-422D-43AF-8DA7-CEDDAF6A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276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2D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EA7EC-3978-4745-B3FD-F437224D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rPr>
              <a:t>ต้องการผลลัพธ์จากงานจริง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F086D-E1CB-48F8-903E-876A7B9E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rPr>
              <a:t>AI Transformation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95C5F-60A1-438F-810F-6CC544F2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327660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29282E"/>
          </a:solidFill>
          <a:ln xmlns:a="http://schemas.openxmlformats.org/drawingml/2006/main" w="9525">
            <a:solidFill>
              <a:srgbClr val="4A47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3E954-96A3-4BD7-A045-F4459312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3276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B2E68-7D13-477B-BEBB-766CFF16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rPr>
              <a:t>ต้องการควบคุมการใช้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2CE1A-E2A8-47A1-8C3B-08070202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813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8C8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118C8B"/>
                </a:solidFill>
                <a:latin typeface="Noto Sans Thai"/>
                <a:ea typeface="Noto Sans Thai"/>
                <a:cs typeface="Noto Sans Thai"/>
              </a:rPr>
              <a:t>AI 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83D7C-5B32-475C-A0D1-D2047819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0300"/>
            <a:ext cx="327660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29282E"/>
          </a:solidFill>
          <a:ln xmlns:a="http://schemas.openxmlformats.org/drawingml/2006/main" w="9525">
            <a:solidFill>
              <a:srgbClr val="4A47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03398-1AA0-40C4-B1D0-7A0A70AC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0300"/>
            <a:ext cx="3276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517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B594F-DCEC-4A4D-82E3-6BC1F23F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rPr>
              <a:t>ต้องการให้ทีมใช้งานเป็น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9ABE3-3806-412B-8801-BD110BE5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AI Training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3E349-9CE6-403F-86EF-BD1FB3A7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91A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91A8"/>
                </a:solidFill>
                <a:latin typeface="Noto Sans Thai"/>
                <a:ea typeface="Noto Sans Thai"/>
                <a:cs typeface="Noto Sans Thai"/>
              </a:rPr>
              <a:t>จุดเริ่มต้นที่แนะนำสำหรับ SME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12F5C6-2F98-4B83-AF97-F1736A5B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AI Workflow Pilot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22D5A-8B2B-4E23-ACA4-4CB30051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D2CDD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D2CDD5"/>
                </a:solidFill>
                <a:latin typeface="Noto Sans Thai"/>
                <a:ea typeface="Noto Sans Thai"/>
                <a:cs typeface="Noto Sans Thai"/>
              </a:rPr>
              <a:t>ราคา 49,000 บาท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D2CDD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D2CDD5"/>
                </a:solidFill>
                <a:latin typeface="Noto Sans Thai"/>
                <a:ea typeface="Noto Sans Thai"/>
                <a:cs typeface="Noto Sans Thai"/>
              </a:rPr>
              <a:t>ระยะเวลา 2–3 สัปดาห์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5FD087-105E-4691-A631-A9F2C512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4743450" cy="118110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9517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5D71F8-EF67-4D8C-8865-6655B1C1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05350"/>
            <a:ext cx="413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นัด Workflow Assessment 30 นาที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F8EA92-FF2E-4EAC-B19B-E96B50BA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625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apinan@gracer.co.th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5A925-29F0-4A43-B179-2E2FB53A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962650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D0CB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D0CBD3"/>
                </a:solidFill>
                <a:latin typeface="Noto Sans Thai"/>
                <a:ea typeface="Noto Sans Thai"/>
                <a:cs typeface="Noto Sans Thai"/>
              </a:rPr>
              <a:t>เริ่มจากหนึ่งงาน วัดผลจริง แล้วค่อยขยาย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D2B728-8678-4EC5-848E-111F3247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B6B1BC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B6B1BC"/>
                </a:solidFill>
                <a:latin typeface="Noto Sans Thai"/>
                <a:ea typeface="Noto Sans Thai"/>
                <a:cs typeface="Noto Sans Tha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3680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2026-09-13T15:26:39.4820000Z</dcterms:created>
  <dcterms:modified xsi:type="dcterms:W3CDTF">2026-09-13T15:26:39.4820000Z</dcterms:modified>
</coreProperties>
</file>